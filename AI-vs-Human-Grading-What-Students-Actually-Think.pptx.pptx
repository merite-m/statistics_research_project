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Quattrocento" panose="020B0604020202020204" charset="0"/>
      <p:regular r:id="rId18"/>
    </p:embeddedFont>
    <p:embeddedFont>
      <p:font typeface="Quattrocento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2" d="100"/>
          <a:sy n="42" d="100"/>
        </p:scale>
        <p:origin x="30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47159" y="2002784"/>
            <a:ext cx="16193691" cy="178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55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AI vs. Human Grading: </a:t>
            </a:r>
          </a:p>
          <a:p>
            <a:pPr algn="ctr">
              <a:lnSpc>
                <a:spcPts val="6875"/>
              </a:lnSpc>
            </a:pPr>
            <a:r>
              <a:rPr lang="en-US" sz="55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What Students at Kepler College Really Think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159" y="5130108"/>
            <a:ext cx="16193691" cy="22327"/>
            <a:chOff x="0" y="0"/>
            <a:chExt cx="21591588" cy="297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91524" cy="29718"/>
            </a:xfrm>
            <a:custGeom>
              <a:avLst/>
              <a:gdLst/>
              <a:ahLst/>
              <a:cxnLst/>
              <a:rect l="l" t="t" r="r" b="b"/>
              <a:pathLst>
                <a:path w="21591524" h="29718">
                  <a:moveTo>
                    <a:pt x="0" y="0"/>
                  </a:moveTo>
                  <a:lnTo>
                    <a:pt x="21591524" y="0"/>
                  </a:lnTo>
                  <a:lnTo>
                    <a:pt x="21591524" y="29718"/>
                  </a:lnTo>
                  <a:lnTo>
                    <a:pt x="0" y="29718"/>
                  </a:lnTo>
                  <a:close/>
                </a:path>
              </a:pathLst>
            </a:custGeom>
            <a:solidFill>
              <a:srgbClr val="F9EEE7">
                <a:alpha val="24706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191000" y="5862790"/>
            <a:ext cx="10371430" cy="1696488"/>
            <a:chOff x="0" y="0"/>
            <a:chExt cx="13828573" cy="22619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28522" cy="2261997"/>
            </a:xfrm>
            <a:custGeom>
              <a:avLst/>
              <a:gdLst/>
              <a:ahLst/>
              <a:cxnLst/>
              <a:rect l="l" t="t" r="r" b="b"/>
              <a:pathLst>
                <a:path w="13828522" h="2261997">
                  <a:moveTo>
                    <a:pt x="0" y="0"/>
                  </a:moveTo>
                  <a:lnTo>
                    <a:pt x="13828522" y="0"/>
                  </a:lnTo>
                  <a:lnTo>
                    <a:pt x="13828522" y="2261997"/>
                  </a:lnTo>
                  <a:lnTo>
                    <a:pt x="0" y="2261997"/>
                  </a:lnTo>
                  <a:close/>
                </a:path>
              </a:pathLst>
            </a:custGeom>
            <a:solidFill>
              <a:srgbClr val="31525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234539" y="5836958"/>
            <a:ext cx="38100" cy="1696488"/>
            <a:chOff x="0" y="0"/>
            <a:chExt cx="50800" cy="22619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00" cy="2261997"/>
            </a:xfrm>
            <a:custGeom>
              <a:avLst/>
              <a:gdLst/>
              <a:ahLst/>
              <a:cxnLst/>
              <a:rect l="l" t="t" r="r" b="b"/>
              <a:pathLst>
                <a:path w="50800" h="2261997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36597"/>
                  </a:lnTo>
                  <a:cubicBezTo>
                    <a:pt x="50800" y="2250567"/>
                    <a:pt x="39370" y="2261997"/>
                    <a:pt x="25400" y="2261997"/>
                  </a:cubicBezTo>
                  <a:cubicBezTo>
                    <a:pt x="11430" y="2261997"/>
                    <a:pt x="0" y="2250567"/>
                    <a:pt x="0" y="2236597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229100" y="5836949"/>
            <a:ext cx="10333330" cy="57150"/>
            <a:chOff x="0" y="0"/>
            <a:chExt cx="13777773" cy="76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777722" cy="76200"/>
            </a:xfrm>
            <a:custGeom>
              <a:avLst/>
              <a:gdLst/>
              <a:ahLst/>
              <a:cxnLst/>
              <a:rect l="l" t="t" r="r" b="b"/>
              <a:pathLst>
                <a:path w="13777722" h="76200">
                  <a:moveTo>
                    <a:pt x="0" y="38100"/>
                  </a:moveTo>
                  <a:cubicBezTo>
                    <a:pt x="0" y="59182"/>
                    <a:pt x="17018" y="76200"/>
                    <a:pt x="38100" y="76200"/>
                  </a:cubicBezTo>
                  <a:lnTo>
                    <a:pt x="13739622" y="76200"/>
                  </a:lnTo>
                  <a:cubicBezTo>
                    <a:pt x="13760704" y="76200"/>
                    <a:pt x="13777722" y="59182"/>
                    <a:pt x="13777722" y="38100"/>
                  </a:cubicBezTo>
                  <a:cubicBezTo>
                    <a:pt x="13777722" y="17018"/>
                    <a:pt x="13760704" y="0"/>
                    <a:pt x="13739622" y="0"/>
                  </a:cubicBezTo>
                  <a:lnTo>
                    <a:pt x="38100" y="0"/>
                  </a:lnTo>
                  <a:cubicBezTo>
                    <a:pt x="17018" y="0"/>
                    <a:pt x="0" y="17018"/>
                    <a:pt x="0" y="3810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4510202" y="6148740"/>
            <a:ext cx="9869548" cy="574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BUS82406 · Statistics &amp; Probability for Business · Trimester II · 2025–2026</a:t>
            </a:r>
          </a:p>
          <a:p>
            <a:pPr algn="l">
              <a:lnSpc>
                <a:spcPts val="3750"/>
              </a:lnSpc>
            </a:pPr>
            <a:endParaRPr lang="en-US" sz="2312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658470" y="6722764"/>
            <a:ext cx="3915547" cy="74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Instructor: </a:t>
            </a:r>
            <a:r>
              <a:rPr lang="en-US" sz="23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Vedaste</a:t>
            </a:r>
            <a:r>
              <a:rPr lang="en-US" sz="23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3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Nyandwi</a:t>
            </a:r>
            <a:endParaRPr lang="en-US" sz="2312" dirty="0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algn="l">
              <a:lnSpc>
                <a:spcPts val="3750"/>
              </a:lnSpc>
            </a:pPr>
            <a:endParaRPr lang="en-US" sz="2312" dirty="0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algn="l">
              <a:lnSpc>
                <a:spcPts val="3750"/>
              </a:lnSpc>
            </a:pPr>
            <a:endParaRPr lang="en-US" sz="2312" dirty="0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97909" y="760362"/>
            <a:ext cx="2237480" cy="438445"/>
            <a:chOff x="0" y="0"/>
            <a:chExt cx="2983306" cy="58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3230" cy="584581"/>
            </a:xfrm>
            <a:custGeom>
              <a:avLst/>
              <a:gdLst/>
              <a:ahLst/>
              <a:cxnLst/>
              <a:rect l="l" t="t" r="r" b="b"/>
              <a:pathLst>
                <a:path w="2983230" h="584581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2943606" y="0"/>
                  </a:lnTo>
                  <a:cubicBezTo>
                    <a:pt x="2965450" y="0"/>
                    <a:pt x="2983230" y="17780"/>
                    <a:pt x="2983230" y="39624"/>
                  </a:cubicBezTo>
                  <a:lnTo>
                    <a:pt x="2983230" y="544957"/>
                  </a:lnTo>
                  <a:cubicBezTo>
                    <a:pt x="2983230" y="566801"/>
                    <a:pt x="2965450" y="584581"/>
                    <a:pt x="2943606" y="584581"/>
                  </a:cubicBezTo>
                  <a:lnTo>
                    <a:pt x="39624" y="584581"/>
                  </a:lnTo>
                  <a:cubicBezTo>
                    <a:pt x="17780" y="584581"/>
                    <a:pt x="0" y="566801"/>
                    <a:pt x="0" y="544957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46432" y="777478"/>
            <a:ext cx="1940423" cy="34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RESEARCH 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909" y="1252242"/>
            <a:ext cx="16092192" cy="71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Kepler Is Considering AI Grading — But Do Students Trust it?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909" y="3232252"/>
            <a:ext cx="2915241" cy="38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Context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7843" y="3920239"/>
            <a:ext cx="7743825" cy="177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Fairness in grading shapes student confidence, motivation, and trust in the institution. This study asked 116 Year 2 students cohort 2025 at Kepler college to rate the fairness of human grading and AI grading on a 1–10 scale.</a:t>
            </a:r>
          </a:p>
          <a:p>
            <a:pPr algn="l">
              <a:lnSpc>
                <a:spcPts val="2812"/>
              </a:lnSpc>
            </a:pPr>
            <a:endParaRPr lang="en-US" sz="1937" dirty="0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97909" y="6728069"/>
            <a:ext cx="2915241" cy="38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Research Objective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9527" y="7285139"/>
            <a:ext cx="7372198" cy="105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To determine whether at Kepler College rate human grading as significantly fairer than AI grading, and whether preferred grading system is associated with academic program.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97909" y="7342289"/>
            <a:ext cx="28575" cy="1087193"/>
            <a:chOff x="0" y="0"/>
            <a:chExt cx="38100" cy="14495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" cy="1449578"/>
            </a:xfrm>
            <a:custGeom>
              <a:avLst/>
              <a:gdLst/>
              <a:ahLst/>
              <a:cxnLst/>
              <a:rect l="l" t="t" r="r" b="b"/>
              <a:pathLst>
                <a:path w="38100" h="1449578">
                  <a:moveTo>
                    <a:pt x="0" y="0"/>
                  </a:moveTo>
                  <a:lnTo>
                    <a:pt x="38100" y="0"/>
                  </a:lnTo>
                  <a:lnTo>
                    <a:pt x="38100" y="1449578"/>
                  </a:lnTo>
                  <a:lnTo>
                    <a:pt x="0" y="1449578"/>
                  </a:ln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455791" y="3232252"/>
            <a:ext cx="2915241" cy="38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Hypotheses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55791" y="3846462"/>
            <a:ext cx="7743825" cy="1662560"/>
            <a:chOff x="0" y="0"/>
            <a:chExt cx="10325100" cy="22167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325100" cy="2216658"/>
            </a:xfrm>
            <a:custGeom>
              <a:avLst/>
              <a:gdLst/>
              <a:ahLst/>
              <a:cxnLst/>
              <a:rect l="l" t="t" r="r" b="b"/>
              <a:pathLst>
                <a:path w="10325100" h="2216658">
                  <a:moveTo>
                    <a:pt x="0" y="49530"/>
                  </a:moveTo>
                  <a:cubicBezTo>
                    <a:pt x="0" y="22225"/>
                    <a:pt x="22225" y="0"/>
                    <a:pt x="49530" y="0"/>
                  </a:cubicBezTo>
                  <a:lnTo>
                    <a:pt x="10275570" y="0"/>
                  </a:lnTo>
                  <a:cubicBezTo>
                    <a:pt x="10303001" y="0"/>
                    <a:pt x="10325100" y="22225"/>
                    <a:pt x="10325100" y="49530"/>
                  </a:cubicBezTo>
                  <a:lnTo>
                    <a:pt x="10325100" y="2167128"/>
                  </a:lnTo>
                  <a:cubicBezTo>
                    <a:pt x="10325100" y="2194560"/>
                    <a:pt x="10302875" y="2216658"/>
                    <a:pt x="10275570" y="2216658"/>
                  </a:cubicBezTo>
                  <a:lnTo>
                    <a:pt x="49530" y="2216658"/>
                  </a:lnTo>
                  <a:cubicBezTo>
                    <a:pt x="22098" y="2216658"/>
                    <a:pt x="0" y="2194433"/>
                    <a:pt x="0" y="2167128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703441" y="4186980"/>
            <a:ext cx="309715" cy="247650"/>
            <a:chOff x="0" y="0"/>
            <a:chExt cx="412953" cy="3302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413004" cy="330200"/>
            </a:xfrm>
            <a:custGeom>
              <a:avLst/>
              <a:gdLst/>
              <a:ahLst/>
              <a:cxnLst/>
              <a:rect l="l" t="t" r="r" b="b"/>
              <a:pathLst>
                <a:path w="413004" h="330200">
                  <a:moveTo>
                    <a:pt x="0" y="0"/>
                  </a:moveTo>
                  <a:lnTo>
                    <a:pt x="413004" y="0"/>
                  </a:lnTo>
                  <a:lnTo>
                    <a:pt x="413004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44" r="-73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0260806" y="4056307"/>
            <a:ext cx="6691160" cy="105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b="1" dirty="0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Paired t-test</a:t>
            </a:r>
          </a:p>
          <a:p>
            <a:pPr algn="l">
              <a:lnSpc>
                <a:spcPts val="2812"/>
              </a:lnSpc>
            </a:pPr>
            <a:r>
              <a:rPr lang="en-US" sz="1937" dirty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H₀: Mean fairness scores are equal (human = AI)</a:t>
            </a:r>
          </a:p>
          <a:p>
            <a:pPr algn="l">
              <a:lnSpc>
                <a:spcPts val="2812"/>
              </a:lnSpc>
            </a:pPr>
            <a:r>
              <a:rPr lang="en-US" sz="1937" dirty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H₁: There is a significant difference in fairness scores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55791" y="5739851"/>
            <a:ext cx="7743825" cy="2387356"/>
            <a:chOff x="0" y="0"/>
            <a:chExt cx="10325100" cy="31831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325100" cy="3183128"/>
            </a:xfrm>
            <a:custGeom>
              <a:avLst/>
              <a:gdLst/>
              <a:ahLst/>
              <a:cxnLst/>
              <a:rect l="l" t="t" r="r" b="b"/>
              <a:pathLst>
                <a:path w="10325100" h="3183128">
                  <a:moveTo>
                    <a:pt x="0" y="49530"/>
                  </a:moveTo>
                  <a:cubicBezTo>
                    <a:pt x="0" y="22225"/>
                    <a:pt x="22225" y="0"/>
                    <a:pt x="49530" y="0"/>
                  </a:cubicBezTo>
                  <a:lnTo>
                    <a:pt x="10275570" y="0"/>
                  </a:lnTo>
                  <a:cubicBezTo>
                    <a:pt x="10303001" y="0"/>
                    <a:pt x="10325100" y="22225"/>
                    <a:pt x="10325100" y="49530"/>
                  </a:cubicBezTo>
                  <a:lnTo>
                    <a:pt x="10325100" y="3133598"/>
                  </a:lnTo>
                  <a:cubicBezTo>
                    <a:pt x="10325100" y="3161030"/>
                    <a:pt x="10302875" y="3183128"/>
                    <a:pt x="10275570" y="3183128"/>
                  </a:cubicBezTo>
                  <a:lnTo>
                    <a:pt x="49530" y="3183128"/>
                  </a:lnTo>
                  <a:cubicBezTo>
                    <a:pt x="22098" y="3183128"/>
                    <a:pt x="0" y="3160903"/>
                    <a:pt x="0" y="3133598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703441" y="6080369"/>
            <a:ext cx="309715" cy="247650"/>
            <a:chOff x="0" y="0"/>
            <a:chExt cx="412953" cy="33020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413004" cy="330200"/>
            </a:xfrm>
            <a:custGeom>
              <a:avLst/>
              <a:gdLst/>
              <a:ahLst/>
              <a:cxnLst/>
              <a:rect l="l" t="t" r="r" b="b"/>
              <a:pathLst>
                <a:path w="413004" h="330200">
                  <a:moveTo>
                    <a:pt x="0" y="0"/>
                  </a:moveTo>
                  <a:lnTo>
                    <a:pt x="413004" y="0"/>
                  </a:lnTo>
                  <a:lnTo>
                    <a:pt x="413004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44" r="-731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0260806" y="5949706"/>
            <a:ext cx="6691160" cy="177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b="1" dirty="0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Chi-square test</a:t>
            </a:r>
          </a:p>
          <a:p>
            <a:pPr algn="l">
              <a:lnSpc>
                <a:spcPts val="2812"/>
              </a:lnSpc>
            </a:pPr>
            <a:r>
              <a:rPr lang="en-US" sz="1937" dirty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H₀: Preferred grading system is independent of academic program</a:t>
            </a:r>
          </a:p>
          <a:p>
            <a:pPr algn="l">
              <a:lnSpc>
                <a:spcPts val="2812"/>
              </a:lnSpc>
            </a:pPr>
            <a:r>
              <a:rPr lang="en-US" sz="1937" dirty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H₁: Preferred grading system is associated with academic program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455791" y="8358035"/>
            <a:ext cx="7743825" cy="937765"/>
            <a:chOff x="0" y="0"/>
            <a:chExt cx="10325100" cy="125035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325100" cy="1250315"/>
            </a:xfrm>
            <a:custGeom>
              <a:avLst/>
              <a:gdLst/>
              <a:ahLst/>
              <a:cxnLst/>
              <a:rect l="l" t="t" r="r" b="b"/>
              <a:pathLst>
                <a:path w="10325100" h="1250315">
                  <a:moveTo>
                    <a:pt x="0" y="49530"/>
                  </a:moveTo>
                  <a:cubicBezTo>
                    <a:pt x="0" y="22225"/>
                    <a:pt x="22225" y="0"/>
                    <a:pt x="49530" y="0"/>
                  </a:cubicBezTo>
                  <a:lnTo>
                    <a:pt x="10275570" y="0"/>
                  </a:lnTo>
                  <a:cubicBezTo>
                    <a:pt x="10303001" y="0"/>
                    <a:pt x="10325100" y="22225"/>
                    <a:pt x="10325100" y="49530"/>
                  </a:cubicBezTo>
                  <a:lnTo>
                    <a:pt x="10325100" y="1200785"/>
                  </a:lnTo>
                  <a:cubicBezTo>
                    <a:pt x="10325100" y="1228217"/>
                    <a:pt x="10302875" y="1250315"/>
                    <a:pt x="10275570" y="1250315"/>
                  </a:cubicBezTo>
                  <a:lnTo>
                    <a:pt x="49530" y="1250315"/>
                  </a:lnTo>
                  <a:cubicBezTo>
                    <a:pt x="22098" y="1250315"/>
                    <a:pt x="0" y="1228090"/>
                    <a:pt x="0" y="1200785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703441" y="8698554"/>
            <a:ext cx="309715" cy="247650"/>
            <a:chOff x="0" y="0"/>
            <a:chExt cx="412953" cy="330200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413004" cy="330200"/>
            </a:xfrm>
            <a:custGeom>
              <a:avLst/>
              <a:gdLst/>
              <a:ahLst/>
              <a:cxnLst/>
              <a:rect l="l" t="t" r="r" b="b"/>
              <a:pathLst>
                <a:path w="413004" h="330200">
                  <a:moveTo>
                    <a:pt x="0" y="0"/>
                  </a:moveTo>
                  <a:lnTo>
                    <a:pt x="413004" y="0"/>
                  </a:lnTo>
                  <a:lnTo>
                    <a:pt x="413004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44" r="-731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0260806" y="8567890"/>
            <a:ext cx="6691160" cy="419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b="1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Significance level:</a:t>
            </a:r>
            <a:r>
              <a:rPr lang="en-US" sz="1937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α = 0.05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3318" y="713337"/>
            <a:ext cx="1711081" cy="406746"/>
            <a:chOff x="0" y="0"/>
            <a:chExt cx="2281441" cy="5423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1555" cy="542417"/>
            </a:xfrm>
            <a:custGeom>
              <a:avLst/>
              <a:gdLst/>
              <a:ahLst/>
              <a:cxnLst/>
              <a:rect l="l" t="t" r="r" b="b"/>
              <a:pathLst>
                <a:path w="2281555" h="542417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2244090" y="0"/>
                  </a:lnTo>
                  <a:cubicBezTo>
                    <a:pt x="2264791" y="0"/>
                    <a:pt x="2281555" y="16764"/>
                    <a:pt x="2281555" y="37465"/>
                  </a:cubicBezTo>
                  <a:lnTo>
                    <a:pt x="2281555" y="504952"/>
                  </a:lnTo>
                  <a:cubicBezTo>
                    <a:pt x="2281555" y="525653"/>
                    <a:pt x="2264791" y="542417"/>
                    <a:pt x="2244090" y="542417"/>
                  </a:cubicBezTo>
                  <a:lnTo>
                    <a:pt x="37465" y="542417"/>
                  </a:lnTo>
                  <a:cubicBezTo>
                    <a:pt x="16764" y="542290"/>
                    <a:pt x="0" y="525526"/>
                    <a:pt x="0" y="504952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693516" y="745331"/>
            <a:ext cx="1430684" cy="30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4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3318" y="1164431"/>
            <a:ext cx="9267082" cy="675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How We Designed the Study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39030" y="2140153"/>
            <a:ext cx="7527874" cy="2655837"/>
            <a:chOff x="0" y="0"/>
            <a:chExt cx="10037166" cy="3541116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9999091" cy="3503041"/>
            </a:xfrm>
            <a:custGeom>
              <a:avLst/>
              <a:gdLst/>
              <a:ahLst/>
              <a:cxnLst/>
              <a:rect l="l" t="t" r="r" b="b"/>
              <a:pathLst>
                <a:path w="9999091" h="3503041">
                  <a:moveTo>
                    <a:pt x="0" y="46736"/>
                  </a:moveTo>
                  <a:cubicBezTo>
                    <a:pt x="0" y="20955"/>
                    <a:pt x="21082" y="0"/>
                    <a:pt x="47117" y="0"/>
                  </a:cubicBezTo>
                  <a:lnTo>
                    <a:pt x="9951974" y="0"/>
                  </a:lnTo>
                  <a:cubicBezTo>
                    <a:pt x="9978009" y="0"/>
                    <a:pt x="9999091" y="20955"/>
                    <a:pt x="9999091" y="46736"/>
                  </a:cubicBezTo>
                  <a:lnTo>
                    <a:pt x="9999091" y="3456305"/>
                  </a:lnTo>
                  <a:cubicBezTo>
                    <a:pt x="9999091" y="3482086"/>
                    <a:pt x="9978009" y="3503041"/>
                    <a:pt x="9951974" y="3503041"/>
                  </a:cubicBezTo>
                  <a:lnTo>
                    <a:pt x="47117" y="3503041"/>
                  </a:lnTo>
                  <a:cubicBezTo>
                    <a:pt x="21082" y="3503041"/>
                    <a:pt x="0" y="3482086"/>
                    <a:pt x="0" y="3456305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0037191" cy="3541141"/>
            </a:xfrm>
            <a:custGeom>
              <a:avLst/>
              <a:gdLst/>
              <a:ahLst/>
              <a:cxnLst/>
              <a:rect l="l" t="t" r="r" b="b"/>
              <a:pathLst>
                <a:path w="10037191" h="3541141">
                  <a:moveTo>
                    <a:pt x="0" y="65786"/>
                  </a:moveTo>
                  <a:cubicBezTo>
                    <a:pt x="0" y="29337"/>
                    <a:pt x="29718" y="0"/>
                    <a:pt x="66167" y="0"/>
                  </a:cubicBezTo>
                  <a:lnTo>
                    <a:pt x="9971024" y="0"/>
                  </a:lnTo>
                  <a:lnTo>
                    <a:pt x="9971024" y="19050"/>
                  </a:lnTo>
                  <a:lnTo>
                    <a:pt x="9971024" y="0"/>
                  </a:lnTo>
                  <a:cubicBezTo>
                    <a:pt x="10007473" y="0"/>
                    <a:pt x="10037191" y="29337"/>
                    <a:pt x="10037191" y="65786"/>
                  </a:cubicBezTo>
                  <a:lnTo>
                    <a:pt x="10018141" y="65786"/>
                  </a:lnTo>
                  <a:lnTo>
                    <a:pt x="10037191" y="65786"/>
                  </a:lnTo>
                  <a:lnTo>
                    <a:pt x="10037191" y="3475355"/>
                  </a:lnTo>
                  <a:lnTo>
                    <a:pt x="10018141" y="3475355"/>
                  </a:lnTo>
                  <a:lnTo>
                    <a:pt x="10037191" y="3475355"/>
                  </a:lnTo>
                  <a:cubicBezTo>
                    <a:pt x="10037191" y="3511804"/>
                    <a:pt x="10007473" y="3541141"/>
                    <a:pt x="9971024" y="3541141"/>
                  </a:cubicBezTo>
                  <a:lnTo>
                    <a:pt x="9971024" y="3522091"/>
                  </a:lnTo>
                  <a:lnTo>
                    <a:pt x="9971024" y="3541141"/>
                  </a:lnTo>
                  <a:lnTo>
                    <a:pt x="66167" y="3541141"/>
                  </a:lnTo>
                  <a:lnTo>
                    <a:pt x="66167" y="3522091"/>
                  </a:lnTo>
                  <a:lnTo>
                    <a:pt x="66167" y="3541141"/>
                  </a:lnTo>
                  <a:cubicBezTo>
                    <a:pt x="29718" y="3541141"/>
                    <a:pt x="0" y="3511804"/>
                    <a:pt x="0" y="3475355"/>
                  </a:cubicBezTo>
                  <a:lnTo>
                    <a:pt x="0" y="65786"/>
                  </a:lnTo>
                  <a:lnTo>
                    <a:pt x="19050" y="65786"/>
                  </a:lnTo>
                  <a:lnTo>
                    <a:pt x="0" y="65786"/>
                  </a:lnTo>
                  <a:moveTo>
                    <a:pt x="38100" y="65786"/>
                  </a:moveTo>
                  <a:lnTo>
                    <a:pt x="38100" y="3475355"/>
                  </a:lnTo>
                  <a:lnTo>
                    <a:pt x="19050" y="3475355"/>
                  </a:lnTo>
                  <a:lnTo>
                    <a:pt x="38100" y="3475355"/>
                  </a:lnTo>
                  <a:cubicBezTo>
                    <a:pt x="38100" y="3490595"/>
                    <a:pt x="50546" y="3503041"/>
                    <a:pt x="66167" y="3503041"/>
                  </a:cubicBezTo>
                  <a:lnTo>
                    <a:pt x="9971024" y="3503041"/>
                  </a:lnTo>
                  <a:cubicBezTo>
                    <a:pt x="9986645" y="3503041"/>
                    <a:pt x="9999091" y="3490468"/>
                    <a:pt x="9999091" y="3475355"/>
                  </a:cubicBezTo>
                  <a:lnTo>
                    <a:pt x="9999091" y="65786"/>
                  </a:lnTo>
                  <a:cubicBezTo>
                    <a:pt x="9999091" y="50546"/>
                    <a:pt x="9986645" y="38100"/>
                    <a:pt x="9971024" y="38100"/>
                  </a:cubicBezTo>
                  <a:lnTo>
                    <a:pt x="66167" y="38100"/>
                  </a:lnTo>
                  <a:lnTo>
                    <a:pt x="66167" y="19050"/>
                  </a:lnTo>
                  <a:lnTo>
                    <a:pt x="66167" y="38100"/>
                  </a:lnTo>
                  <a:cubicBezTo>
                    <a:pt x="50546" y="38100"/>
                    <a:pt x="38100" y="50673"/>
                    <a:pt x="38100" y="65786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81893" y="2183016"/>
            <a:ext cx="7442149" cy="701278"/>
            <a:chOff x="0" y="0"/>
            <a:chExt cx="9922866" cy="9350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22891" cy="934974"/>
            </a:xfrm>
            <a:custGeom>
              <a:avLst/>
              <a:gdLst/>
              <a:ahLst/>
              <a:cxnLst/>
              <a:rect l="l" t="t" r="r" b="b"/>
              <a:pathLst>
                <a:path w="9922891" h="934974">
                  <a:moveTo>
                    <a:pt x="0" y="1016"/>
                  </a:moveTo>
                  <a:cubicBezTo>
                    <a:pt x="0" y="508"/>
                    <a:pt x="508" y="0"/>
                    <a:pt x="1016" y="0"/>
                  </a:cubicBezTo>
                  <a:lnTo>
                    <a:pt x="9921875" y="0"/>
                  </a:lnTo>
                  <a:cubicBezTo>
                    <a:pt x="9922510" y="0"/>
                    <a:pt x="9922891" y="508"/>
                    <a:pt x="9922891" y="1016"/>
                  </a:cubicBezTo>
                  <a:lnTo>
                    <a:pt x="9922891" y="933958"/>
                  </a:lnTo>
                  <a:cubicBezTo>
                    <a:pt x="9922891" y="934593"/>
                    <a:pt x="9922383" y="934974"/>
                    <a:pt x="9921875" y="934974"/>
                  </a:cubicBezTo>
                  <a:lnTo>
                    <a:pt x="1016" y="934974"/>
                  </a:lnTo>
                  <a:cubicBezTo>
                    <a:pt x="381" y="934974"/>
                    <a:pt x="0" y="934466"/>
                    <a:pt x="0" y="933958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815551" y="3047848"/>
            <a:ext cx="2750191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Data Collection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15551" y="3472605"/>
            <a:ext cx="6974834" cy="9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Primary research via Google Forms survey. Distributed to students at Kepler College. Approval was requested from research@keplercollege.ac.rw.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20943" y="2140153"/>
            <a:ext cx="7527874" cy="2655837"/>
            <a:chOff x="0" y="0"/>
            <a:chExt cx="10037166" cy="3541116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9999091" cy="3503041"/>
            </a:xfrm>
            <a:custGeom>
              <a:avLst/>
              <a:gdLst/>
              <a:ahLst/>
              <a:cxnLst/>
              <a:rect l="l" t="t" r="r" b="b"/>
              <a:pathLst>
                <a:path w="9999091" h="3503041">
                  <a:moveTo>
                    <a:pt x="0" y="46736"/>
                  </a:moveTo>
                  <a:cubicBezTo>
                    <a:pt x="0" y="20955"/>
                    <a:pt x="21082" y="0"/>
                    <a:pt x="47117" y="0"/>
                  </a:cubicBezTo>
                  <a:lnTo>
                    <a:pt x="9951974" y="0"/>
                  </a:lnTo>
                  <a:cubicBezTo>
                    <a:pt x="9978009" y="0"/>
                    <a:pt x="9999091" y="20955"/>
                    <a:pt x="9999091" y="46736"/>
                  </a:cubicBezTo>
                  <a:lnTo>
                    <a:pt x="9999091" y="3456305"/>
                  </a:lnTo>
                  <a:cubicBezTo>
                    <a:pt x="9999091" y="3482086"/>
                    <a:pt x="9978009" y="3503041"/>
                    <a:pt x="9951974" y="3503041"/>
                  </a:cubicBezTo>
                  <a:lnTo>
                    <a:pt x="47117" y="3503041"/>
                  </a:lnTo>
                  <a:cubicBezTo>
                    <a:pt x="21082" y="3503041"/>
                    <a:pt x="0" y="3482086"/>
                    <a:pt x="0" y="3456305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037191" cy="3541141"/>
            </a:xfrm>
            <a:custGeom>
              <a:avLst/>
              <a:gdLst/>
              <a:ahLst/>
              <a:cxnLst/>
              <a:rect l="l" t="t" r="r" b="b"/>
              <a:pathLst>
                <a:path w="10037191" h="3541141">
                  <a:moveTo>
                    <a:pt x="0" y="65786"/>
                  </a:moveTo>
                  <a:cubicBezTo>
                    <a:pt x="0" y="29337"/>
                    <a:pt x="29718" y="0"/>
                    <a:pt x="66167" y="0"/>
                  </a:cubicBezTo>
                  <a:lnTo>
                    <a:pt x="9971024" y="0"/>
                  </a:lnTo>
                  <a:lnTo>
                    <a:pt x="9971024" y="19050"/>
                  </a:lnTo>
                  <a:lnTo>
                    <a:pt x="9971024" y="0"/>
                  </a:lnTo>
                  <a:cubicBezTo>
                    <a:pt x="10007473" y="0"/>
                    <a:pt x="10037191" y="29337"/>
                    <a:pt x="10037191" y="65786"/>
                  </a:cubicBezTo>
                  <a:lnTo>
                    <a:pt x="10018141" y="65786"/>
                  </a:lnTo>
                  <a:lnTo>
                    <a:pt x="10037191" y="65786"/>
                  </a:lnTo>
                  <a:lnTo>
                    <a:pt x="10037191" y="3475355"/>
                  </a:lnTo>
                  <a:lnTo>
                    <a:pt x="10018141" y="3475355"/>
                  </a:lnTo>
                  <a:lnTo>
                    <a:pt x="10037191" y="3475355"/>
                  </a:lnTo>
                  <a:cubicBezTo>
                    <a:pt x="10037191" y="3511804"/>
                    <a:pt x="10007473" y="3541141"/>
                    <a:pt x="9971024" y="3541141"/>
                  </a:cubicBezTo>
                  <a:lnTo>
                    <a:pt x="9971024" y="3522091"/>
                  </a:lnTo>
                  <a:lnTo>
                    <a:pt x="9971024" y="3541141"/>
                  </a:lnTo>
                  <a:lnTo>
                    <a:pt x="66167" y="3541141"/>
                  </a:lnTo>
                  <a:lnTo>
                    <a:pt x="66167" y="3522091"/>
                  </a:lnTo>
                  <a:lnTo>
                    <a:pt x="66167" y="3541141"/>
                  </a:lnTo>
                  <a:cubicBezTo>
                    <a:pt x="29718" y="3541141"/>
                    <a:pt x="0" y="3511804"/>
                    <a:pt x="0" y="3475355"/>
                  </a:cubicBezTo>
                  <a:lnTo>
                    <a:pt x="0" y="65786"/>
                  </a:lnTo>
                  <a:lnTo>
                    <a:pt x="19050" y="65786"/>
                  </a:lnTo>
                  <a:lnTo>
                    <a:pt x="0" y="65786"/>
                  </a:lnTo>
                  <a:moveTo>
                    <a:pt x="38100" y="65786"/>
                  </a:moveTo>
                  <a:lnTo>
                    <a:pt x="38100" y="3475355"/>
                  </a:lnTo>
                  <a:lnTo>
                    <a:pt x="19050" y="3475355"/>
                  </a:lnTo>
                  <a:lnTo>
                    <a:pt x="38100" y="3475355"/>
                  </a:lnTo>
                  <a:cubicBezTo>
                    <a:pt x="38100" y="3490595"/>
                    <a:pt x="50546" y="3503041"/>
                    <a:pt x="66167" y="3503041"/>
                  </a:cubicBezTo>
                  <a:lnTo>
                    <a:pt x="9971024" y="3503041"/>
                  </a:lnTo>
                  <a:cubicBezTo>
                    <a:pt x="9986645" y="3503041"/>
                    <a:pt x="9999091" y="3490468"/>
                    <a:pt x="9999091" y="3475355"/>
                  </a:cubicBezTo>
                  <a:lnTo>
                    <a:pt x="9999091" y="65786"/>
                  </a:lnTo>
                  <a:cubicBezTo>
                    <a:pt x="9999091" y="50546"/>
                    <a:pt x="9986645" y="38100"/>
                    <a:pt x="9971024" y="38100"/>
                  </a:cubicBezTo>
                  <a:lnTo>
                    <a:pt x="66167" y="38100"/>
                  </a:lnTo>
                  <a:lnTo>
                    <a:pt x="66167" y="19050"/>
                  </a:lnTo>
                  <a:lnTo>
                    <a:pt x="66167" y="38100"/>
                  </a:lnTo>
                  <a:cubicBezTo>
                    <a:pt x="50546" y="38100"/>
                    <a:pt x="38100" y="50673"/>
                    <a:pt x="38100" y="65786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263805" y="2183016"/>
            <a:ext cx="7442149" cy="701278"/>
            <a:chOff x="0" y="0"/>
            <a:chExt cx="9922866" cy="9350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22891" cy="934974"/>
            </a:xfrm>
            <a:custGeom>
              <a:avLst/>
              <a:gdLst/>
              <a:ahLst/>
              <a:cxnLst/>
              <a:rect l="l" t="t" r="r" b="b"/>
              <a:pathLst>
                <a:path w="9922891" h="934974">
                  <a:moveTo>
                    <a:pt x="0" y="1016"/>
                  </a:moveTo>
                  <a:cubicBezTo>
                    <a:pt x="0" y="508"/>
                    <a:pt x="508" y="0"/>
                    <a:pt x="1016" y="0"/>
                  </a:cubicBezTo>
                  <a:lnTo>
                    <a:pt x="9921875" y="0"/>
                  </a:lnTo>
                  <a:cubicBezTo>
                    <a:pt x="9922510" y="0"/>
                    <a:pt x="9922891" y="508"/>
                    <a:pt x="9922891" y="1016"/>
                  </a:cubicBezTo>
                  <a:lnTo>
                    <a:pt x="9922891" y="933958"/>
                  </a:lnTo>
                  <a:cubicBezTo>
                    <a:pt x="9922891" y="934593"/>
                    <a:pt x="9922383" y="934974"/>
                    <a:pt x="9921875" y="934974"/>
                  </a:cubicBezTo>
                  <a:lnTo>
                    <a:pt x="1016" y="934974"/>
                  </a:lnTo>
                  <a:cubicBezTo>
                    <a:pt x="381" y="934974"/>
                    <a:pt x="0" y="934466"/>
                    <a:pt x="0" y="933958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9497463" y="3047848"/>
            <a:ext cx="2750191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Sample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97463" y="3472605"/>
            <a:ext cx="6974834" cy="9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116 valid responses after data cleaning. 74 Business Analytics students, 41 Project Management students. All respondents are Kepler students.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39030" y="4950028"/>
            <a:ext cx="7527874" cy="3577380"/>
            <a:chOff x="0" y="0"/>
            <a:chExt cx="10037166" cy="4769841"/>
          </a:xfrm>
        </p:grpSpPr>
        <p:sp>
          <p:nvSpPr>
            <p:cNvPr id="25" name="Freeform 25"/>
            <p:cNvSpPr/>
            <p:nvPr/>
          </p:nvSpPr>
          <p:spPr>
            <a:xfrm>
              <a:off x="19050" y="19050"/>
              <a:ext cx="9999091" cy="4731766"/>
            </a:xfrm>
            <a:custGeom>
              <a:avLst/>
              <a:gdLst/>
              <a:ahLst/>
              <a:cxnLst/>
              <a:rect l="l" t="t" r="r" b="b"/>
              <a:pathLst>
                <a:path w="9999091" h="4731766">
                  <a:moveTo>
                    <a:pt x="0" y="46736"/>
                  </a:moveTo>
                  <a:cubicBezTo>
                    <a:pt x="0" y="20955"/>
                    <a:pt x="21082" y="0"/>
                    <a:pt x="46990" y="0"/>
                  </a:cubicBezTo>
                  <a:lnTo>
                    <a:pt x="9952101" y="0"/>
                  </a:lnTo>
                  <a:cubicBezTo>
                    <a:pt x="9978009" y="0"/>
                    <a:pt x="9999091" y="20955"/>
                    <a:pt x="9999091" y="46736"/>
                  </a:cubicBezTo>
                  <a:lnTo>
                    <a:pt x="9999091" y="4685030"/>
                  </a:lnTo>
                  <a:cubicBezTo>
                    <a:pt x="9999091" y="4710811"/>
                    <a:pt x="9978009" y="4731766"/>
                    <a:pt x="9952101" y="4731766"/>
                  </a:cubicBezTo>
                  <a:lnTo>
                    <a:pt x="46990" y="4731766"/>
                  </a:lnTo>
                  <a:cubicBezTo>
                    <a:pt x="21082" y="4731766"/>
                    <a:pt x="0" y="4710811"/>
                    <a:pt x="0" y="4685030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037191" cy="4769866"/>
            </a:xfrm>
            <a:custGeom>
              <a:avLst/>
              <a:gdLst/>
              <a:ahLst/>
              <a:cxnLst/>
              <a:rect l="l" t="t" r="r" b="b"/>
              <a:pathLst>
                <a:path w="10037191" h="4769866">
                  <a:moveTo>
                    <a:pt x="0" y="65786"/>
                  </a:moveTo>
                  <a:cubicBezTo>
                    <a:pt x="0" y="29337"/>
                    <a:pt x="29591" y="0"/>
                    <a:pt x="66040" y="0"/>
                  </a:cubicBezTo>
                  <a:lnTo>
                    <a:pt x="9971151" y="0"/>
                  </a:lnTo>
                  <a:lnTo>
                    <a:pt x="9971151" y="19050"/>
                  </a:lnTo>
                  <a:lnTo>
                    <a:pt x="9971151" y="0"/>
                  </a:lnTo>
                  <a:cubicBezTo>
                    <a:pt x="10007473" y="0"/>
                    <a:pt x="10037191" y="29337"/>
                    <a:pt x="10037191" y="65786"/>
                  </a:cubicBezTo>
                  <a:lnTo>
                    <a:pt x="10018141" y="65786"/>
                  </a:lnTo>
                  <a:lnTo>
                    <a:pt x="10037191" y="65786"/>
                  </a:lnTo>
                  <a:lnTo>
                    <a:pt x="10037191" y="4704080"/>
                  </a:lnTo>
                  <a:lnTo>
                    <a:pt x="10018141" y="4704080"/>
                  </a:lnTo>
                  <a:lnTo>
                    <a:pt x="10037191" y="4704080"/>
                  </a:lnTo>
                  <a:cubicBezTo>
                    <a:pt x="10037191" y="4740529"/>
                    <a:pt x="10007600" y="4769866"/>
                    <a:pt x="9971151" y="4769866"/>
                  </a:cubicBezTo>
                  <a:lnTo>
                    <a:pt x="9971151" y="4750816"/>
                  </a:lnTo>
                  <a:lnTo>
                    <a:pt x="9971151" y="4769866"/>
                  </a:lnTo>
                  <a:lnTo>
                    <a:pt x="66040" y="4769866"/>
                  </a:lnTo>
                  <a:lnTo>
                    <a:pt x="66040" y="4750816"/>
                  </a:lnTo>
                  <a:lnTo>
                    <a:pt x="66040" y="4769866"/>
                  </a:lnTo>
                  <a:cubicBezTo>
                    <a:pt x="29718" y="4769866"/>
                    <a:pt x="0" y="4740529"/>
                    <a:pt x="0" y="4704080"/>
                  </a:cubicBezTo>
                  <a:lnTo>
                    <a:pt x="0" y="65786"/>
                  </a:lnTo>
                  <a:lnTo>
                    <a:pt x="19050" y="65786"/>
                  </a:lnTo>
                  <a:lnTo>
                    <a:pt x="0" y="65786"/>
                  </a:lnTo>
                  <a:moveTo>
                    <a:pt x="38100" y="65786"/>
                  </a:moveTo>
                  <a:lnTo>
                    <a:pt x="38100" y="4704080"/>
                  </a:lnTo>
                  <a:lnTo>
                    <a:pt x="19050" y="4704080"/>
                  </a:lnTo>
                  <a:lnTo>
                    <a:pt x="38100" y="4704080"/>
                  </a:lnTo>
                  <a:cubicBezTo>
                    <a:pt x="38100" y="4719320"/>
                    <a:pt x="50546" y="4731766"/>
                    <a:pt x="66040" y="4731766"/>
                  </a:cubicBezTo>
                  <a:lnTo>
                    <a:pt x="9971151" y="4731766"/>
                  </a:lnTo>
                  <a:cubicBezTo>
                    <a:pt x="9986645" y="4731766"/>
                    <a:pt x="9999091" y="4719320"/>
                    <a:pt x="9999091" y="4704080"/>
                  </a:cubicBezTo>
                  <a:lnTo>
                    <a:pt x="9999091" y="65786"/>
                  </a:lnTo>
                  <a:cubicBezTo>
                    <a:pt x="9999091" y="50546"/>
                    <a:pt x="9986645" y="38100"/>
                    <a:pt x="9971151" y="38100"/>
                  </a:cubicBezTo>
                  <a:lnTo>
                    <a:pt x="66040" y="38100"/>
                  </a:lnTo>
                  <a:lnTo>
                    <a:pt x="66040" y="19050"/>
                  </a:lnTo>
                  <a:lnTo>
                    <a:pt x="66040" y="38100"/>
                  </a:lnTo>
                  <a:cubicBezTo>
                    <a:pt x="50546" y="38100"/>
                    <a:pt x="38100" y="50546"/>
                    <a:pt x="38100" y="65786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581893" y="4992891"/>
            <a:ext cx="7442149" cy="701278"/>
            <a:chOff x="0" y="0"/>
            <a:chExt cx="9922866" cy="9350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22891" cy="934974"/>
            </a:xfrm>
            <a:custGeom>
              <a:avLst/>
              <a:gdLst/>
              <a:ahLst/>
              <a:cxnLst/>
              <a:rect l="l" t="t" r="r" b="b"/>
              <a:pathLst>
                <a:path w="9922891" h="934974">
                  <a:moveTo>
                    <a:pt x="0" y="1016"/>
                  </a:moveTo>
                  <a:cubicBezTo>
                    <a:pt x="0" y="508"/>
                    <a:pt x="508" y="0"/>
                    <a:pt x="1016" y="0"/>
                  </a:cubicBezTo>
                  <a:lnTo>
                    <a:pt x="9921875" y="0"/>
                  </a:lnTo>
                  <a:cubicBezTo>
                    <a:pt x="9922510" y="0"/>
                    <a:pt x="9922891" y="508"/>
                    <a:pt x="9922891" y="1016"/>
                  </a:cubicBezTo>
                  <a:lnTo>
                    <a:pt x="9922891" y="933958"/>
                  </a:lnTo>
                  <a:cubicBezTo>
                    <a:pt x="9922891" y="934593"/>
                    <a:pt x="9922383" y="934974"/>
                    <a:pt x="9921875" y="934974"/>
                  </a:cubicBezTo>
                  <a:lnTo>
                    <a:pt x="1016" y="934974"/>
                  </a:lnTo>
                  <a:cubicBezTo>
                    <a:pt x="381" y="934974"/>
                    <a:pt x="0" y="934466"/>
                    <a:pt x="0" y="933958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815551" y="5857723"/>
            <a:ext cx="2750191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Key Variables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15551" y="6282480"/>
            <a:ext cx="6974834" cy="196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Human_Fairness</a:t>
            </a: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(1–10 scale)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AI_Fairness</a:t>
            </a: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(1–10 scale)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AI_Bias_Concern</a:t>
            </a: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(1–10 scale)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System_Preference</a:t>
            </a: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(categorical)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Academic_Program</a:t>
            </a: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(categorical)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220943" y="4950028"/>
            <a:ext cx="7527874" cy="3577380"/>
            <a:chOff x="0" y="0"/>
            <a:chExt cx="10037166" cy="4769841"/>
          </a:xfrm>
        </p:grpSpPr>
        <p:sp>
          <p:nvSpPr>
            <p:cNvPr id="32" name="Freeform 32"/>
            <p:cNvSpPr/>
            <p:nvPr/>
          </p:nvSpPr>
          <p:spPr>
            <a:xfrm>
              <a:off x="19050" y="19050"/>
              <a:ext cx="9999091" cy="4731766"/>
            </a:xfrm>
            <a:custGeom>
              <a:avLst/>
              <a:gdLst/>
              <a:ahLst/>
              <a:cxnLst/>
              <a:rect l="l" t="t" r="r" b="b"/>
              <a:pathLst>
                <a:path w="9999091" h="4731766">
                  <a:moveTo>
                    <a:pt x="0" y="46736"/>
                  </a:moveTo>
                  <a:cubicBezTo>
                    <a:pt x="0" y="20955"/>
                    <a:pt x="21082" y="0"/>
                    <a:pt x="46990" y="0"/>
                  </a:cubicBezTo>
                  <a:lnTo>
                    <a:pt x="9952101" y="0"/>
                  </a:lnTo>
                  <a:cubicBezTo>
                    <a:pt x="9978009" y="0"/>
                    <a:pt x="9999091" y="20955"/>
                    <a:pt x="9999091" y="46736"/>
                  </a:cubicBezTo>
                  <a:lnTo>
                    <a:pt x="9999091" y="4685030"/>
                  </a:lnTo>
                  <a:cubicBezTo>
                    <a:pt x="9999091" y="4710811"/>
                    <a:pt x="9978009" y="4731766"/>
                    <a:pt x="9952101" y="4731766"/>
                  </a:cubicBezTo>
                  <a:lnTo>
                    <a:pt x="46990" y="4731766"/>
                  </a:lnTo>
                  <a:cubicBezTo>
                    <a:pt x="21082" y="4731766"/>
                    <a:pt x="0" y="4710811"/>
                    <a:pt x="0" y="4685030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0037191" cy="4769866"/>
            </a:xfrm>
            <a:custGeom>
              <a:avLst/>
              <a:gdLst/>
              <a:ahLst/>
              <a:cxnLst/>
              <a:rect l="l" t="t" r="r" b="b"/>
              <a:pathLst>
                <a:path w="10037191" h="4769866">
                  <a:moveTo>
                    <a:pt x="0" y="65786"/>
                  </a:moveTo>
                  <a:cubicBezTo>
                    <a:pt x="0" y="29337"/>
                    <a:pt x="29591" y="0"/>
                    <a:pt x="66040" y="0"/>
                  </a:cubicBezTo>
                  <a:lnTo>
                    <a:pt x="9971151" y="0"/>
                  </a:lnTo>
                  <a:lnTo>
                    <a:pt x="9971151" y="19050"/>
                  </a:lnTo>
                  <a:lnTo>
                    <a:pt x="9971151" y="0"/>
                  </a:lnTo>
                  <a:cubicBezTo>
                    <a:pt x="10007473" y="0"/>
                    <a:pt x="10037191" y="29337"/>
                    <a:pt x="10037191" y="65786"/>
                  </a:cubicBezTo>
                  <a:lnTo>
                    <a:pt x="10018141" y="65786"/>
                  </a:lnTo>
                  <a:lnTo>
                    <a:pt x="10037191" y="65786"/>
                  </a:lnTo>
                  <a:lnTo>
                    <a:pt x="10037191" y="4704080"/>
                  </a:lnTo>
                  <a:lnTo>
                    <a:pt x="10018141" y="4704080"/>
                  </a:lnTo>
                  <a:lnTo>
                    <a:pt x="10037191" y="4704080"/>
                  </a:lnTo>
                  <a:cubicBezTo>
                    <a:pt x="10037191" y="4740529"/>
                    <a:pt x="10007600" y="4769866"/>
                    <a:pt x="9971151" y="4769866"/>
                  </a:cubicBezTo>
                  <a:lnTo>
                    <a:pt x="9971151" y="4750816"/>
                  </a:lnTo>
                  <a:lnTo>
                    <a:pt x="9971151" y="4769866"/>
                  </a:lnTo>
                  <a:lnTo>
                    <a:pt x="66040" y="4769866"/>
                  </a:lnTo>
                  <a:lnTo>
                    <a:pt x="66040" y="4750816"/>
                  </a:lnTo>
                  <a:lnTo>
                    <a:pt x="66040" y="4769866"/>
                  </a:lnTo>
                  <a:cubicBezTo>
                    <a:pt x="29718" y="4769866"/>
                    <a:pt x="0" y="4740529"/>
                    <a:pt x="0" y="4704080"/>
                  </a:cubicBezTo>
                  <a:lnTo>
                    <a:pt x="0" y="65786"/>
                  </a:lnTo>
                  <a:lnTo>
                    <a:pt x="19050" y="65786"/>
                  </a:lnTo>
                  <a:lnTo>
                    <a:pt x="0" y="65786"/>
                  </a:lnTo>
                  <a:moveTo>
                    <a:pt x="38100" y="65786"/>
                  </a:moveTo>
                  <a:lnTo>
                    <a:pt x="38100" y="4704080"/>
                  </a:lnTo>
                  <a:lnTo>
                    <a:pt x="19050" y="4704080"/>
                  </a:lnTo>
                  <a:lnTo>
                    <a:pt x="38100" y="4704080"/>
                  </a:lnTo>
                  <a:cubicBezTo>
                    <a:pt x="38100" y="4719320"/>
                    <a:pt x="50546" y="4731766"/>
                    <a:pt x="66040" y="4731766"/>
                  </a:cubicBezTo>
                  <a:lnTo>
                    <a:pt x="9971151" y="4731766"/>
                  </a:lnTo>
                  <a:cubicBezTo>
                    <a:pt x="9986645" y="4731766"/>
                    <a:pt x="9999091" y="4719320"/>
                    <a:pt x="9999091" y="4704080"/>
                  </a:cubicBezTo>
                  <a:lnTo>
                    <a:pt x="9999091" y="65786"/>
                  </a:lnTo>
                  <a:cubicBezTo>
                    <a:pt x="9999091" y="50546"/>
                    <a:pt x="9986645" y="38100"/>
                    <a:pt x="9971151" y="38100"/>
                  </a:cubicBezTo>
                  <a:lnTo>
                    <a:pt x="66040" y="38100"/>
                  </a:lnTo>
                  <a:lnTo>
                    <a:pt x="66040" y="19050"/>
                  </a:lnTo>
                  <a:lnTo>
                    <a:pt x="66040" y="38100"/>
                  </a:lnTo>
                  <a:cubicBezTo>
                    <a:pt x="50546" y="38100"/>
                    <a:pt x="38100" y="50546"/>
                    <a:pt x="38100" y="65786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263805" y="4992891"/>
            <a:ext cx="7442149" cy="701278"/>
            <a:chOff x="0" y="0"/>
            <a:chExt cx="9922866" cy="9350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22891" cy="934974"/>
            </a:xfrm>
            <a:custGeom>
              <a:avLst/>
              <a:gdLst/>
              <a:ahLst/>
              <a:cxnLst/>
              <a:rect l="l" t="t" r="r" b="b"/>
              <a:pathLst>
                <a:path w="9922891" h="934974">
                  <a:moveTo>
                    <a:pt x="0" y="1016"/>
                  </a:moveTo>
                  <a:cubicBezTo>
                    <a:pt x="0" y="508"/>
                    <a:pt x="508" y="0"/>
                    <a:pt x="1016" y="0"/>
                  </a:cubicBezTo>
                  <a:lnTo>
                    <a:pt x="9921875" y="0"/>
                  </a:lnTo>
                  <a:cubicBezTo>
                    <a:pt x="9922510" y="0"/>
                    <a:pt x="9922891" y="508"/>
                    <a:pt x="9922891" y="1016"/>
                  </a:cubicBezTo>
                  <a:lnTo>
                    <a:pt x="9922891" y="933958"/>
                  </a:lnTo>
                  <a:cubicBezTo>
                    <a:pt x="9922891" y="934593"/>
                    <a:pt x="9922383" y="934974"/>
                    <a:pt x="9921875" y="934974"/>
                  </a:cubicBezTo>
                  <a:lnTo>
                    <a:pt x="1016" y="934974"/>
                  </a:lnTo>
                  <a:cubicBezTo>
                    <a:pt x="381" y="934974"/>
                    <a:pt x="0" y="934466"/>
                    <a:pt x="0" y="933958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9497463" y="5857723"/>
            <a:ext cx="2750191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Statistical Tests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97463" y="6282480"/>
            <a:ext cx="6974834" cy="150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Paired t-test: compares fairness scores from same students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Chi-square test: checks association between program and preference</a:t>
            </a:r>
          </a:p>
          <a:p>
            <a:pPr marL="273348" lvl="1" indent="-136674" algn="l">
              <a:lnSpc>
                <a:spcPts val="2562"/>
              </a:lnSpc>
              <a:buFont typeface="Arial"/>
              <a:buChar char="•"/>
            </a:pPr>
            <a:r>
              <a:rPr lang="en-US" sz="181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Descriptive statistics: mean, standard deviation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553318" y="8718499"/>
            <a:ext cx="15181212" cy="855164"/>
            <a:chOff x="0" y="0"/>
            <a:chExt cx="20241616" cy="114021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241642" cy="1140206"/>
            </a:xfrm>
            <a:custGeom>
              <a:avLst/>
              <a:gdLst/>
              <a:ahLst/>
              <a:cxnLst/>
              <a:rect l="l" t="t" r="r" b="b"/>
              <a:pathLst>
                <a:path w="20241642" h="1140206">
                  <a:moveTo>
                    <a:pt x="0" y="46736"/>
                  </a:moveTo>
                  <a:cubicBezTo>
                    <a:pt x="0" y="20955"/>
                    <a:pt x="20955" y="0"/>
                    <a:pt x="46736" y="0"/>
                  </a:cubicBezTo>
                  <a:lnTo>
                    <a:pt x="20194905" y="0"/>
                  </a:lnTo>
                  <a:cubicBezTo>
                    <a:pt x="20220687" y="0"/>
                    <a:pt x="20241642" y="20955"/>
                    <a:pt x="20241642" y="46736"/>
                  </a:cubicBezTo>
                  <a:lnTo>
                    <a:pt x="20241642" y="1093470"/>
                  </a:lnTo>
                  <a:cubicBezTo>
                    <a:pt x="20241642" y="1119251"/>
                    <a:pt x="20220687" y="1140206"/>
                    <a:pt x="20194905" y="1140206"/>
                  </a:cubicBezTo>
                  <a:lnTo>
                    <a:pt x="46736" y="1140206"/>
                  </a:lnTo>
                  <a:cubicBezTo>
                    <a:pt x="20955" y="1140206"/>
                    <a:pt x="0" y="1119251"/>
                    <a:pt x="0" y="1093470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86976" y="9034615"/>
            <a:ext cx="292151" cy="233658"/>
            <a:chOff x="0" y="0"/>
            <a:chExt cx="389534" cy="311544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389509" cy="311531"/>
            </a:xfrm>
            <a:custGeom>
              <a:avLst/>
              <a:gdLst/>
              <a:ahLst/>
              <a:cxnLst/>
              <a:rect l="l" t="t" r="r" b="b"/>
              <a:pathLst>
                <a:path w="389509" h="311531">
                  <a:moveTo>
                    <a:pt x="0" y="0"/>
                  </a:moveTo>
                  <a:lnTo>
                    <a:pt x="389509" y="0"/>
                  </a:lnTo>
                  <a:lnTo>
                    <a:pt x="389509" y="311531"/>
                  </a:lnTo>
                  <a:lnTo>
                    <a:pt x="0" y="311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15" r="-6" b="-419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2312784" y="8911828"/>
            <a:ext cx="14188078" cy="38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 dirty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Demographics placed at end of survey to reduce response bias (stereotype threat mitigation).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99960" y="740569"/>
            <a:ext cx="1892056" cy="460029"/>
            <a:chOff x="0" y="0"/>
            <a:chExt cx="2522741" cy="6133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2728" cy="613410"/>
            </a:xfrm>
            <a:custGeom>
              <a:avLst/>
              <a:gdLst/>
              <a:ahLst/>
              <a:cxnLst/>
              <a:rect l="l" t="t" r="r" b="b"/>
              <a:pathLst>
                <a:path w="2522728" h="613410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2481580" y="0"/>
                  </a:lnTo>
                  <a:cubicBezTo>
                    <a:pt x="2504313" y="0"/>
                    <a:pt x="2522728" y="18415"/>
                    <a:pt x="2522728" y="41148"/>
                  </a:cubicBezTo>
                  <a:lnTo>
                    <a:pt x="2522728" y="572262"/>
                  </a:lnTo>
                  <a:cubicBezTo>
                    <a:pt x="2522728" y="594995"/>
                    <a:pt x="2504313" y="613410"/>
                    <a:pt x="2481580" y="613410"/>
                  </a:cubicBezTo>
                  <a:lnTo>
                    <a:pt x="41148" y="613410"/>
                  </a:lnTo>
                  <a:cubicBezTo>
                    <a:pt x="18415" y="613410"/>
                    <a:pt x="0" y="594995"/>
                    <a:pt x="0" y="572262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54151" y="770039"/>
            <a:ext cx="1583684" cy="35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6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DATA CLEANING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6478" y="1364799"/>
            <a:ext cx="12968440" cy="738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From Raw Data to Analysis-Ready 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7239" y="2630016"/>
            <a:ext cx="4967440" cy="364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Issues Found in Raw Data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96401" y="3236938"/>
            <a:ext cx="385610" cy="385610"/>
          </a:xfrm>
          <a:custGeom>
            <a:avLst/>
            <a:gdLst/>
            <a:ahLst/>
            <a:cxnLst/>
            <a:rect l="l" t="t" r="r" b="b"/>
            <a:pathLst>
              <a:path w="385610" h="385610">
                <a:moveTo>
                  <a:pt x="0" y="0"/>
                </a:moveTo>
                <a:lnTo>
                  <a:pt x="385610" y="0"/>
                </a:lnTo>
                <a:lnTo>
                  <a:pt x="385610" y="385610"/>
                </a:lnTo>
                <a:lnTo>
                  <a:pt x="0" y="385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36" r="-8536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35484" y="3147860"/>
            <a:ext cx="7094934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Timestamp column</a:t>
            </a:r>
            <a:r>
              <a:rPr lang="en-US" sz="20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not needed for analysis → removed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43004" y="4296729"/>
            <a:ext cx="385610" cy="385610"/>
          </a:xfrm>
          <a:custGeom>
            <a:avLst/>
            <a:gdLst/>
            <a:ahLst/>
            <a:cxnLst/>
            <a:rect l="l" t="t" r="r" b="b"/>
            <a:pathLst>
              <a:path w="385610" h="385610">
                <a:moveTo>
                  <a:pt x="0" y="0"/>
                </a:moveTo>
                <a:lnTo>
                  <a:pt x="385610" y="0"/>
                </a:lnTo>
                <a:lnTo>
                  <a:pt x="385610" y="385610"/>
                </a:lnTo>
                <a:lnTo>
                  <a:pt x="0" y="385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36" r="-8536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744577" y="4261753"/>
            <a:ext cx="7094934" cy="841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Inconsistent program labels</a:t>
            </a:r>
            <a:r>
              <a:rPr lang="en-US" sz="200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e.g., "business analytics" vs "Business Analytics" → </a:t>
            </a:r>
            <a:r>
              <a:rPr lang="en-US" sz="2000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standardised</a:t>
            </a:r>
            <a:endParaRPr lang="en-US" sz="2000" dirty="0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17" name="Freeform 17" descr="preencoded.png"/>
          <p:cNvSpPr/>
          <p:nvPr/>
        </p:nvSpPr>
        <p:spPr>
          <a:xfrm>
            <a:off x="964187" y="5747890"/>
            <a:ext cx="385610" cy="385610"/>
          </a:xfrm>
          <a:custGeom>
            <a:avLst/>
            <a:gdLst/>
            <a:ahLst/>
            <a:cxnLst/>
            <a:rect l="l" t="t" r="r" b="b"/>
            <a:pathLst>
              <a:path w="385610" h="385610">
                <a:moveTo>
                  <a:pt x="0" y="0"/>
                </a:moveTo>
                <a:lnTo>
                  <a:pt x="385610" y="0"/>
                </a:lnTo>
                <a:lnTo>
                  <a:pt x="385610" y="385610"/>
                </a:lnTo>
                <a:lnTo>
                  <a:pt x="0" y="385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36" r="-8536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35484" y="5677392"/>
            <a:ext cx="7094934" cy="841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1 missing value</a:t>
            </a:r>
            <a:r>
              <a:rPr lang="en-US" sz="200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in </a:t>
            </a:r>
            <a:r>
              <a:rPr lang="en-US" sz="2000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AI_Objectivity_Belief</a:t>
            </a:r>
            <a:r>
              <a:rPr lang="en-US" sz="200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column → retained; excluded only from that specific test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64187" y="7061749"/>
            <a:ext cx="385610" cy="385610"/>
          </a:xfrm>
          <a:custGeom>
            <a:avLst/>
            <a:gdLst/>
            <a:ahLst/>
            <a:cxnLst/>
            <a:rect l="l" t="t" r="r" b="b"/>
            <a:pathLst>
              <a:path w="385610" h="385610">
                <a:moveTo>
                  <a:pt x="0" y="0"/>
                </a:moveTo>
                <a:lnTo>
                  <a:pt x="385610" y="0"/>
                </a:lnTo>
                <a:lnTo>
                  <a:pt x="385610" y="385610"/>
                </a:lnTo>
                <a:lnTo>
                  <a:pt x="0" y="385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36" r="-8536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669382" y="7061749"/>
            <a:ext cx="7094934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Numeric scale columns</a:t>
            </a:r>
            <a:r>
              <a:rPr lang="en-US" sz="200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all verified as integer 1–10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67107" y="2587828"/>
            <a:ext cx="3025226" cy="387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Final Clean Dataset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462345" y="3219298"/>
            <a:ext cx="7939983" cy="4457405"/>
            <a:chOff x="0" y="0"/>
            <a:chExt cx="10586644" cy="59432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86593" cy="5943219"/>
            </a:xfrm>
            <a:custGeom>
              <a:avLst/>
              <a:gdLst/>
              <a:ahLst/>
              <a:cxnLst/>
              <a:rect l="l" t="t" r="r" b="b"/>
              <a:pathLst>
                <a:path w="10586593" h="5943219">
                  <a:moveTo>
                    <a:pt x="0" y="57785"/>
                  </a:moveTo>
                  <a:cubicBezTo>
                    <a:pt x="0" y="25908"/>
                    <a:pt x="25908" y="0"/>
                    <a:pt x="57785" y="0"/>
                  </a:cubicBezTo>
                  <a:lnTo>
                    <a:pt x="10528808" y="0"/>
                  </a:lnTo>
                  <a:lnTo>
                    <a:pt x="10528808" y="6350"/>
                  </a:lnTo>
                  <a:lnTo>
                    <a:pt x="10528808" y="0"/>
                  </a:lnTo>
                  <a:cubicBezTo>
                    <a:pt x="10560685" y="0"/>
                    <a:pt x="10586593" y="25908"/>
                    <a:pt x="10586593" y="57785"/>
                  </a:cubicBezTo>
                  <a:lnTo>
                    <a:pt x="10580243" y="57785"/>
                  </a:lnTo>
                  <a:lnTo>
                    <a:pt x="10586593" y="57785"/>
                  </a:lnTo>
                  <a:lnTo>
                    <a:pt x="10586593" y="5885434"/>
                  </a:lnTo>
                  <a:lnTo>
                    <a:pt x="10580243" y="5885434"/>
                  </a:lnTo>
                  <a:lnTo>
                    <a:pt x="10586593" y="5885434"/>
                  </a:lnTo>
                  <a:cubicBezTo>
                    <a:pt x="10586593" y="5917311"/>
                    <a:pt x="10560685" y="5943219"/>
                    <a:pt x="10528808" y="5943219"/>
                  </a:cubicBezTo>
                  <a:lnTo>
                    <a:pt x="10528808" y="5936869"/>
                  </a:lnTo>
                  <a:lnTo>
                    <a:pt x="10528808" y="5943219"/>
                  </a:lnTo>
                  <a:lnTo>
                    <a:pt x="57785" y="5943219"/>
                  </a:lnTo>
                  <a:lnTo>
                    <a:pt x="57785" y="5936869"/>
                  </a:lnTo>
                  <a:lnTo>
                    <a:pt x="57785" y="5943219"/>
                  </a:lnTo>
                  <a:cubicBezTo>
                    <a:pt x="25908" y="5943219"/>
                    <a:pt x="0" y="5917311"/>
                    <a:pt x="0" y="5885434"/>
                  </a:cubicBezTo>
                  <a:lnTo>
                    <a:pt x="0" y="57785"/>
                  </a:lnTo>
                  <a:lnTo>
                    <a:pt x="6350" y="57785"/>
                  </a:lnTo>
                  <a:lnTo>
                    <a:pt x="0" y="57785"/>
                  </a:lnTo>
                  <a:moveTo>
                    <a:pt x="12700" y="57785"/>
                  </a:moveTo>
                  <a:lnTo>
                    <a:pt x="12700" y="5885434"/>
                  </a:lnTo>
                  <a:lnTo>
                    <a:pt x="6350" y="5885434"/>
                  </a:lnTo>
                  <a:lnTo>
                    <a:pt x="12700" y="5885434"/>
                  </a:lnTo>
                  <a:cubicBezTo>
                    <a:pt x="12700" y="5910326"/>
                    <a:pt x="32893" y="5930519"/>
                    <a:pt x="57785" y="5930519"/>
                  </a:cubicBezTo>
                  <a:lnTo>
                    <a:pt x="10528808" y="5930519"/>
                  </a:lnTo>
                  <a:cubicBezTo>
                    <a:pt x="10553700" y="5930519"/>
                    <a:pt x="10573893" y="5910326"/>
                    <a:pt x="10573893" y="5885434"/>
                  </a:cubicBezTo>
                  <a:lnTo>
                    <a:pt x="10573893" y="57785"/>
                  </a:lnTo>
                  <a:cubicBezTo>
                    <a:pt x="10573893" y="32893"/>
                    <a:pt x="10553700" y="12700"/>
                    <a:pt x="10528808" y="12700"/>
                  </a:cubicBezTo>
                  <a:lnTo>
                    <a:pt x="57785" y="12700"/>
                  </a:lnTo>
                  <a:lnTo>
                    <a:pt x="57785" y="6350"/>
                  </a:lnTo>
                  <a:lnTo>
                    <a:pt x="57785" y="12700"/>
                  </a:lnTo>
                  <a:cubicBezTo>
                    <a:pt x="32893" y="12700"/>
                    <a:pt x="12700" y="32893"/>
                    <a:pt x="12700" y="57785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9733655" y="3299374"/>
            <a:ext cx="3436887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Metric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94121" y="3299374"/>
            <a:ext cx="3436887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Value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33655" y="3975344"/>
            <a:ext cx="3436887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Total valid responses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94121" y="3975344"/>
            <a:ext cx="3436887" cy="36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116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33655" y="4651324"/>
            <a:ext cx="3436887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Business Analytics students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94121" y="4651324"/>
            <a:ext cx="3436887" cy="36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74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33655" y="5327304"/>
            <a:ext cx="3436887" cy="841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Project Management students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94121" y="5327304"/>
            <a:ext cx="3436887" cy="36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41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33655" y="6385770"/>
            <a:ext cx="3436887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Missing values (numeric)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94121" y="6385770"/>
            <a:ext cx="3436887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33655" y="7061749"/>
            <a:ext cx="3436887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Duplicates removed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94121" y="7061749"/>
            <a:ext cx="3436887" cy="458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0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467107" y="7920485"/>
            <a:ext cx="7930458" cy="1377258"/>
            <a:chOff x="0" y="0"/>
            <a:chExt cx="10573944" cy="183634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573893" cy="1836293"/>
            </a:xfrm>
            <a:custGeom>
              <a:avLst/>
              <a:gdLst/>
              <a:ahLst/>
              <a:cxnLst/>
              <a:rect l="l" t="t" r="r" b="b"/>
              <a:pathLst>
                <a:path w="10573893" h="183629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0522458" y="0"/>
                  </a:lnTo>
                  <a:cubicBezTo>
                    <a:pt x="10550906" y="0"/>
                    <a:pt x="10573893" y="22987"/>
                    <a:pt x="10573893" y="51435"/>
                  </a:cubicBezTo>
                  <a:lnTo>
                    <a:pt x="10573893" y="1784858"/>
                  </a:lnTo>
                  <a:cubicBezTo>
                    <a:pt x="10573893" y="1813306"/>
                    <a:pt x="10550906" y="1836293"/>
                    <a:pt x="10522458" y="1836293"/>
                  </a:cubicBezTo>
                  <a:lnTo>
                    <a:pt x="51435" y="1836293"/>
                  </a:lnTo>
                  <a:cubicBezTo>
                    <a:pt x="22987" y="1836293"/>
                    <a:pt x="0" y="1813306"/>
                    <a:pt x="0" y="1784858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724130" y="8283331"/>
            <a:ext cx="321316" cy="257023"/>
            <a:chOff x="0" y="0"/>
            <a:chExt cx="428422" cy="342697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428371" cy="342646"/>
            </a:xfrm>
            <a:custGeom>
              <a:avLst/>
              <a:gdLst/>
              <a:ahLst/>
              <a:cxnLst/>
              <a:rect l="l" t="t" r="r" b="b"/>
              <a:pathLst>
                <a:path w="428371" h="342646">
                  <a:moveTo>
                    <a:pt x="0" y="0"/>
                  </a:moveTo>
                  <a:lnTo>
                    <a:pt x="428371" y="0"/>
                  </a:lnTo>
                  <a:lnTo>
                    <a:pt x="428371" y="342646"/>
                  </a:lnTo>
                  <a:lnTo>
                    <a:pt x="0" y="342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4" r="-376" b="-14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10302478" y="8129292"/>
            <a:ext cx="6838055" cy="841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Both raw and clean data kept in separate tabs for full transparency and reproducibility.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160537" y="675980"/>
            <a:ext cx="2275437" cy="365369"/>
            <a:chOff x="0" y="0"/>
            <a:chExt cx="3033916" cy="487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3903" cy="487172"/>
            </a:xfrm>
            <a:custGeom>
              <a:avLst/>
              <a:gdLst/>
              <a:ahLst/>
              <a:cxnLst/>
              <a:rect l="l" t="t" r="r" b="b"/>
              <a:pathLst>
                <a:path w="3033903" h="487172">
                  <a:moveTo>
                    <a:pt x="0" y="34417"/>
                  </a:moveTo>
                  <a:cubicBezTo>
                    <a:pt x="0" y="15367"/>
                    <a:pt x="15367" y="0"/>
                    <a:pt x="34417" y="0"/>
                  </a:cubicBezTo>
                  <a:lnTo>
                    <a:pt x="2999486" y="0"/>
                  </a:lnTo>
                  <a:cubicBezTo>
                    <a:pt x="3018536" y="0"/>
                    <a:pt x="3033903" y="15367"/>
                    <a:pt x="3033903" y="34417"/>
                  </a:cubicBezTo>
                  <a:lnTo>
                    <a:pt x="3033903" y="452755"/>
                  </a:lnTo>
                  <a:cubicBezTo>
                    <a:pt x="3033903" y="471805"/>
                    <a:pt x="3018536" y="487172"/>
                    <a:pt x="2999486" y="487172"/>
                  </a:cubicBezTo>
                  <a:lnTo>
                    <a:pt x="34417" y="487172"/>
                  </a:lnTo>
                  <a:cubicBezTo>
                    <a:pt x="15367" y="487172"/>
                    <a:pt x="0" y="471805"/>
                    <a:pt x="0" y="452755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289572" y="711841"/>
            <a:ext cx="2017366" cy="265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DESCRIPTIVE STATISTICS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60537" y="1074534"/>
            <a:ext cx="12380709" cy="66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Students Rate Human Grading Higher Than AI Grading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60537" y="2179587"/>
            <a:ext cx="6886727" cy="73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6.90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38790" y="2988621"/>
            <a:ext cx="2530078" cy="33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Human Fairness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60537" y="3378546"/>
            <a:ext cx="6886727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Mean score out of 10</a:t>
            </a:r>
          </a:p>
          <a:p>
            <a:pPr algn="ctr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SD = 2.74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40441" y="2179587"/>
            <a:ext cx="6886870" cy="73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6.06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18837" y="2988621"/>
            <a:ext cx="2530078" cy="33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 Fairness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40441" y="3378546"/>
            <a:ext cx="6886870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Mean score out of 10</a:t>
            </a:r>
          </a:p>
          <a:p>
            <a:pPr algn="ctr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SD = 2.32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60537" y="4529137"/>
            <a:ext cx="6886727" cy="73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6.20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38790" y="5338172"/>
            <a:ext cx="2530078" cy="33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Bias Concern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60537" y="5728097"/>
            <a:ext cx="6886727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Mean score out of 10</a:t>
            </a:r>
          </a:p>
          <a:p>
            <a:pPr algn="ctr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SD = 2.27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40441" y="4529137"/>
            <a:ext cx="6886870" cy="73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0.82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18837" y="5338172"/>
            <a:ext cx="2530078" cy="33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Score Gap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0441" y="5728097"/>
            <a:ext cx="6886870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Human rated higher than AI on average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60537" y="6493078"/>
            <a:ext cx="13966774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On average, students rated human grading </a:t>
            </a:r>
            <a:r>
              <a:rPr lang="en-US" sz="1687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0.89 points higher</a:t>
            </a: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than AI grading. This gap, while moderate in absolute terms, is statistically meaningful — as confirmed by hypothesis testing. AI Bias Concern scored 6.20, indicating that concerns about algorithmic unfairness are moderate but real.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155774" y="7586958"/>
            <a:ext cx="13976299" cy="2028825"/>
            <a:chOff x="0" y="0"/>
            <a:chExt cx="18635066" cy="2705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635092" cy="2705100"/>
            </a:xfrm>
            <a:custGeom>
              <a:avLst/>
              <a:gdLst/>
              <a:ahLst/>
              <a:cxnLst/>
              <a:rect l="l" t="t" r="r" b="b"/>
              <a:pathLst>
                <a:path w="18635092" h="2705100">
                  <a:moveTo>
                    <a:pt x="0" y="49403"/>
                  </a:moveTo>
                  <a:cubicBezTo>
                    <a:pt x="0" y="22098"/>
                    <a:pt x="22225" y="0"/>
                    <a:pt x="49530" y="0"/>
                  </a:cubicBezTo>
                  <a:lnTo>
                    <a:pt x="18585562" y="0"/>
                  </a:lnTo>
                  <a:lnTo>
                    <a:pt x="18585562" y="6350"/>
                  </a:lnTo>
                  <a:lnTo>
                    <a:pt x="18585562" y="0"/>
                  </a:lnTo>
                  <a:cubicBezTo>
                    <a:pt x="18612867" y="0"/>
                    <a:pt x="18635092" y="22098"/>
                    <a:pt x="18635092" y="49403"/>
                  </a:cubicBezTo>
                  <a:lnTo>
                    <a:pt x="18628742" y="49403"/>
                  </a:lnTo>
                  <a:lnTo>
                    <a:pt x="18635092" y="49403"/>
                  </a:lnTo>
                  <a:lnTo>
                    <a:pt x="18635092" y="2655697"/>
                  </a:lnTo>
                  <a:lnTo>
                    <a:pt x="18628742" y="2655697"/>
                  </a:lnTo>
                  <a:lnTo>
                    <a:pt x="18635092" y="2655697"/>
                  </a:lnTo>
                  <a:cubicBezTo>
                    <a:pt x="18635092" y="2683002"/>
                    <a:pt x="18612867" y="2705100"/>
                    <a:pt x="18585562" y="2705100"/>
                  </a:cubicBezTo>
                  <a:lnTo>
                    <a:pt x="18585562" y="2698750"/>
                  </a:lnTo>
                  <a:lnTo>
                    <a:pt x="18585562" y="2705100"/>
                  </a:lnTo>
                  <a:lnTo>
                    <a:pt x="49530" y="2705100"/>
                  </a:lnTo>
                  <a:lnTo>
                    <a:pt x="49530" y="2698750"/>
                  </a:lnTo>
                  <a:lnTo>
                    <a:pt x="49530" y="2705100"/>
                  </a:lnTo>
                  <a:cubicBezTo>
                    <a:pt x="22225" y="2705100"/>
                    <a:pt x="0" y="2683002"/>
                    <a:pt x="0" y="2655697"/>
                  </a:cubicBezTo>
                  <a:lnTo>
                    <a:pt x="0" y="49403"/>
                  </a:lnTo>
                  <a:lnTo>
                    <a:pt x="6350" y="49403"/>
                  </a:lnTo>
                  <a:lnTo>
                    <a:pt x="0" y="49403"/>
                  </a:lnTo>
                  <a:moveTo>
                    <a:pt x="12700" y="49403"/>
                  </a:moveTo>
                  <a:lnTo>
                    <a:pt x="12700" y="2655697"/>
                  </a:lnTo>
                  <a:lnTo>
                    <a:pt x="6350" y="2655697"/>
                  </a:lnTo>
                  <a:lnTo>
                    <a:pt x="12700" y="2655697"/>
                  </a:lnTo>
                  <a:cubicBezTo>
                    <a:pt x="12700" y="2676017"/>
                    <a:pt x="29210" y="2692400"/>
                    <a:pt x="49530" y="2692400"/>
                  </a:cubicBezTo>
                  <a:lnTo>
                    <a:pt x="18585562" y="2692400"/>
                  </a:lnTo>
                  <a:cubicBezTo>
                    <a:pt x="18605881" y="2692400"/>
                    <a:pt x="18622392" y="2676017"/>
                    <a:pt x="18622392" y="2655697"/>
                  </a:cubicBezTo>
                  <a:lnTo>
                    <a:pt x="18622392" y="49403"/>
                  </a:lnTo>
                  <a:cubicBezTo>
                    <a:pt x="18622392" y="29210"/>
                    <a:pt x="18605881" y="12700"/>
                    <a:pt x="18585562" y="12700"/>
                  </a:cubicBezTo>
                  <a:lnTo>
                    <a:pt x="49530" y="12700"/>
                  </a:lnTo>
                  <a:lnTo>
                    <a:pt x="49530" y="6350"/>
                  </a:lnTo>
                  <a:lnTo>
                    <a:pt x="49530" y="12700"/>
                  </a:lnTo>
                  <a:cubicBezTo>
                    <a:pt x="29210" y="12700"/>
                    <a:pt x="12700" y="29083"/>
                    <a:pt x="12700" y="49403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2170062" y="7601245"/>
            <a:ext cx="13950401" cy="500062"/>
            <a:chOff x="0" y="0"/>
            <a:chExt cx="18600534" cy="6667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600547" cy="666750"/>
            </a:xfrm>
            <a:custGeom>
              <a:avLst/>
              <a:gdLst/>
              <a:ahLst/>
              <a:cxnLst/>
              <a:rect l="l" t="t" r="r" b="b"/>
              <a:pathLst>
                <a:path w="18600547" h="666750">
                  <a:moveTo>
                    <a:pt x="0" y="0"/>
                  </a:moveTo>
                  <a:lnTo>
                    <a:pt x="18600547" y="0"/>
                  </a:lnTo>
                  <a:lnTo>
                    <a:pt x="18600547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2385565" y="7665396"/>
            <a:ext cx="1890122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Variable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15323" y="7665396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40318" y="7665396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Mean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65304" y="7665396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90299" y="7665396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15295" y="7665396"/>
            <a:ext cx="1890122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Max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170062" y="8101308"/>
            <a:ext cx="13950401" cy="500062"/>
            <a:chOff x="0" y="0"/>
            <a:chExt cx="18600534" cy="6667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600547" cy="666750"/>
            </a:xfrm>
            <a:custGeom>
              <a:avLst/>
              <a:gdLst/>
              <a:ahLst/>
              <a:cxnLst/>
              <a:rect l="l" t="t" r="r" b="b"/>
              <a:pathLst>
                <a:path w="18600547" h="666750">
                  <a:moveTo>
                    <a:pt x="0" y="0"/>
                  </a:moveTo>
                  <a:lnTo>
                    <a:pt x="18600547" y="0"/>
                  </a:lnTo>
                  <a:lnTo>
                    <a:pt x="18600547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2385565" y="8165459"/>
            <a:ext cx="1890122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Human Fairness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15323" y="8165459"/>
            <a:ext cx="188535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116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40318" y="8165459"/>
            <a:ext cx="188535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6.90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65304" y="8165459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2.37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90299" y="8165459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015295" y="8165459"/>
            <a:ext cx="1890122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10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170062" y="8601370"/>
            <a:ext cx="13950401" cy="500062"/>
            <a:chOff x="0" y="0"/>
            <a:chExt cx="18600534" cy="6667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8600547" cy="666750"/>
            </a:xfrm>
            <a:custGeom>
              <a:avLst/>
              <a:gdLst/>
              <a:ahLst/>
              <a:cxnLst/>
              <a:rect l="l" t="t" r="r" b="b"/>
              <a:pathLst>
                <a:path w="18600547" h="666750">
                  <a:moveTo>
                    <a:pt x="0" y="0"/>
                  </a:moveTo>
                  <a:lnTo>
                    <a:pt x="18600547" y="0"/>
                  </a:lnTo>
                  <a:lnTo>
                    <a:pt x="18600547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2385565" y="8665521"/>
            <a:ext cx="1890122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 Fairness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15323" y="8665521"/>
            <a:ext cx="188535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116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40318" y="8665521"/>
            <a:ext cx="188535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6.06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365304" y="8665521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2.30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690299" y="8665521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015295" y="8665521"/>
            <a:ext cx="1890122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10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2170062" y="9101433"/>
            <a:ext cx="13950401" cy="500062"/>
            <a:chOff x="0" y="0"/>
            <a:chExt cx="18600534" cy="66675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8600547" cy="666750"/>
            </a:xfrm>
            <a:custGeom>
              <a:avLst/>
              <a:gdLst/>
              <a:ahLst/>
              <a:cxnLst/>
              <a:rect l="l" t="t" r="r" b="b"/>
              <a:pathLst>
                <a:path w="18600547" h="666750">
                  <a:moveTo>
                    <a:pt x="0" y="0"/>
                  </a:moveTo>
                  <a:lnTo>
                    <a:pt x="18600547" y="0"/>
                  </a:lnTo>
                  <a:lnTo>
                    <a:pt x="18600547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2385565" y="9165584"/>
            <a:ext cx="1890122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 Bias Concern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715323" y="9165584"/>
            <a:ext cx="188535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116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40318" y="9165584"/>
            <a:ext cx="1885359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6.20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365304" y="9165584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2.19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690299" y="9165584"/>
            <a:ext cx="1885359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015295" y="9165584"/>
            <a:ext cx="1890122" cy="33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97909" y="681333"/>
            <a:ext cx="2533202" cy="438445"/>
            <a:chOff x="0" y="0"/>
            <a:chExt cx="3377603" cy="584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77565" cy="584581"/>
            </a:xfrm>
            <a:custGeom>
              <a:avLst/>
              <a:gdLst/>
              <a:ahLst/>
              <a:cxnLst/>
              <a:rect l="l" t="t" r="r" b="b"/>
              <a:pathLst>
                <a:path w="3377565" h="584581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3337941" y="0"/>
                  </a:lnTo>
                  <a:cubicBezTo>
                    <a:pt x="3359785" y="0"/>
                    <a:pt x="3377565" y="17780"/>
                    <a:pt x="3377565" y="39624"/>
                  </a:cubicBezTo>
                  <a:lnTo>
                    <a:pt x="3377565" y="544957"/>
                  </a:lnTo>
                  <a:cubicBezTo>
                    <a:pt x="3377565" y="566801"/>
                    <a:pt x="3359785" y="584581"/>
                    <a:pt x="3337941" y="584581"/>
                  </a:cubicBezTo>
                  <a:lnTo>
                    <a:pt x="39624" y="584581"/>
                  </a:lnTo>
                  <a:cubicBezTo>
                    <a:pt x="17780" y="584581"/>
                    <a:pt x="0" y="566801"/>
                    <a:pt x="0" y="544957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46432" y="698449"/>
            <a:ext cx="2236146" cy="34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FAIRNESS COMPARISON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909" y="1173213"/>
            <a:ext cx="16092192" cy="148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Human Grading Scores Consistently Higher — The Data Confirms It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44320" y="3198019"/>
            <a:ext cx="8390782" cy="4849568"/>
            <a:chOff x="0" y="0"/>
            <a:chExt cx="11187709" cy="64660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87684" cy="6466078"/>
            </a:xfrm>
            <a:custGeom>
              <a:avLst/>
              <a:gdLst/>
              <a:ahLst/>
              <a:cxnLst/>
              <a:rect l="l" t="t" r="r" b="b"/>
              <a:pathLst>
                <a:path w="11187684" h="6466078">
                  <a:moveTo>
                    <a:pt x="0" y="0"/>
                  </a:moveTo>
                  <a:lnTo>
                    <a:pt x="11187684" y="0"/>
                  </a:lnTo>
                  <a:lnTo>
                    <a:pt x="11187684" y="6466078"/>
                  </a:lnTo>
                  <a:lnTo>
                    <a:pt x="0" y="6466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186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065572" y="4034952"/>
            <a:ext cx="204102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6.90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909" y="8643195"/>
            <a:ext cx="9413377" cy="33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Mean fairness scores from 116 student responses. Scale: 1–10.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25352" y="3153223"/>
            <a:ext cx="2915241" cy="38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Key Observations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111065" y="3753145"/>
            <a:ext cx="6102696" cy="1305820"/>
            <a:chOff x="0" y="0"/>
            <a:chExt cx="8136928" cy="1741094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8098790" cy="1702943"/>
            </a:xfrm>
            <a:custGeom>
              <a:avLst/>
              <a:gdLst/>
              <a:ahLst/>
              <a:cxnLst/>
              <a:rect l="l" t="t" r="r" b="b"/>
              <a:pathLst>
                <a:path w="8098790" h="1702943">
                  <a:moveTo>
                    <a:pt x="0" y="182880"/>
                  </a:moveTo>
                  <a:cubicBezTo>
                    <a:pt x="0" y="81915"/>
                    <a:pt x="83312" y="0"/>
                    <a:pt x="186055" y="0"/>
                  </a:cubicBezTo>
                  <a:lnTo>
                    <a:pt x="7912736" y="0"/>
                  </a:lnTo>
                  <a:cubicBezTo>
                    <a:pt x="8015478" y="0"/>
                    <a:pt x="8098790" y="81915"/>
                    <a:pt x="8098790" y="182880"/>
                  </a:cubicBezTo>
                  <a:lnTo>
                    <a:pt x="8098790" y="1520063"/>
                  </a:lnTo>
                  <a:cubicBezTo>
                    <a:pt x="8098790" y="1621028"/>
                    <a:pt x="8015478" y="1702943"/>
                    <a:pt x="7912736" y="1702943"/>
                  </a:cubicBezTo>
                  <a:lnTo>
                    <a:pt x="186055" y="1702943"/>
                  </a:lnTo>
                  <a:cubicBezTo>
                    <a:pt x="83312" y="1702943"/>
                    <a:pt x="0" y="1621028"/>
                    <a:pt x="0" y="1520063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8136890" cy="1741043"/>
            </a:xfrm>
            <a:custGeom>
              <a:avLst/>
              <a:gdLst/>
              <a:ahLst/>
              <a:cxnLst/>
              <a:rect l="l" t="t" r="r" b="b"/>
              <a:pathLst>
                <a:path w="8136890" h="1741043">
                  <a:moveTo>
                    <a:pt x="0" y="201930"/>
                  </a:moveTo>
                  <a:cubicBezTo>
                    <a:pt x="0" y="90043"/>
                    <a:pt x="92202" y="0"/>
                    <a:pt x="205105" y="0"/>
                  </a:cubicBezTo>
                  <a:lnTo>
                    <a:pt x="7931786" y="0"/>
                  </a:lnTo>
                  <a:lnTo>
                    <a:pt x="7931786" y="19050"/>
                  </a:lnTo>
                  <a:lnTo>
                    <a:pt x="7931786" y="0"/>
                  </a:lnTo>
                  <a:cubicBezTo>
                    <a:pt x="8044815" y="0"/>
                    <a:pt x="8136890" y="90043"/>
                    <a:pt x="8136890" y="201930"/>
                  </a:cubicBezTo>
                  <a:lnTo>
                    <a:pt x="8117840" y="201930"/>
                  </a:lnTo>
                  <a:lnTo>
                    <a:pt x="8136890" y="201930"/>
                  </a:lnTo>
                  <a:lnTo>
                    <a:pt x="8136890" y="1539113"/>
                  </a:lnTo>
                  <a:lnTo>
                    <a:pt x="8117840" y="1539113"/>
                  </a:lnTo>
                  <a:lnTo>
                    <a:pt x="8136890" y="1539113"/>
                  </a:lnTo>
                  <a:cubicBezTo>
                    <a:pt x="8136890" y="1651000"/>
                    <a:pt x="8044688" y="1741043"/>
                    <a:pt x="7931786" y="1741043"/>
                  </a:cubicBezTo>
                  <a:lnTo>
                    <a:pt x="7931786" y="1721993"/>
                  </a:lnTo>
                  <a:lnTo>
                    <a:pt x="7931786" y="1741043"/>
                  </a:lnTo>
                  <a:lnTo>
                    <a:pt x="205105" y="1741043"/>
                  </a:lnTo>
                  <a:lnTo>
                    <a:pt x="205105" y="1721993"/>
                  </a:lnTo>
                  <a:lnTo>
                    <a:pt x="205105" y="1741043"/>
                  </a:lnTo>
                  <a:cubicBezTo>
                    <a:pt x="92202" y="1741043"/>
                    <a:pt x="0" y="1651000"/>
                    <a:pt x="0" y="153911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39113"/>
                  </a:lnTo>
                  <a:lnTo>
                    <a:pt x="19050" y="1539113"/>
                  </a:lnTo>
                  <a:lnTo>
                    <a:pt x="38100" y="1539113"/>
                  </a:lnTo>
                  <a:cubicBezTo>
                    <a:pt x="38100" y="1629283"/>
                    <a:pt x="112522" y="1702943"/>
                    <a:pt x="205105" y="1702943"/>
                  </a:cubicBezTo>
                  <a:lnTo>
                    <a:pt x="7931786" y="1702943"/>
                  </a:lnTo>
                  <a:cubicBezTo>
                    <a:pt x="8024368" y="1702943"/>
                    <a:pt x="8098790" y="1629283"/>
                    <a:pt x="8098790" y="1539113"/>
                  </a:cubicBezTo>
                  <a:lnTo>
                    <a:pt x="8098790" y="201930"/>
                  </a:lnTo>
                  <a:cubicBezTo>
                    <a:pt x="8098790" y="111760"/>
                    <a:pt x="8024368" y="38100"/>
                    <a:pt x="7931786" y="38100"/>
                  </a:cubicBezTo>
                  <a:lnTo>
                    <a:pt x="205105" y="38100"/>
                  </a:lnTo>
                  <a:lnTo>
                    <a:pt x="205105" y="19050"/>
                  </a:lnTo>
                  <a:lnTo>
                    <a:pt x="205105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096777" y="3767433"/>
            <a:ext cx="114300" cy="1277245"/>
            <a:chOff x="0" y="0"/>
            <a:chExt cx="152400" cy="17029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400" cy="1702943"/>
            </a:xfrm>
            <a:custGeom>
              <a:avLst/>
              <a:gdLst/>
              <a:ahLst/>
              <a:cxnLst/>
              <a:rect l="l" t="t" r="r" b="b"/>
              <a:pathLst>
                <a:path w="152400" h="1702943">
                  <a:moveTo>
                    <a:pt x="0" y="49530"/>
                  </a:moveTo>
                  <a:cubicBezTo>
                    <a:pt x="0" y="22225"/>
                    <a:pt x="22225" y="0"/>
                    <a:pt x="49530" y="0"/>
                  </a:cubicBezTo>
                  <a:lnTo>
                    <a:pt x="102870" y="0"/>
                  </a:lnTo>
                  <a:cubicBezTo>
                    <a:pt x="130175" y="0"/>
                    <a:pt x="152400" y="22225"/>
                    <a:pt x="152400" y="49530"/>
                  </a:cubicBezTo>
                  <a:lnTo>
                    <a:pt x="152400" y="1653413"/>
                  </a:lnTo>
                  <a:cubicBezTo>
                    <a:pt x="152400" y="1680845"/>
                    <a:pt x="130175" y="1702943"/>
                    <a:pt x="102870" y="1702943"/>
                  </a:cubicBezTo>
                  <a:lnTo>
                    <a:pt x="49530" y="1702943"/>
                  </a:lnTo>
                  <a:cubicBezTo>
                    <a:pt x="22098" y="1702943"/>
                    <a:pt x="0" y="1680718"/>
                    <a:pt x="0" y="1653413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1487302" y="3986508"/>
            <a:ext cx="5435946" cy="78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Human median score</a:t>
            </a:r>
            <a:r>
              <a:rPr lang="en-US" sz="193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is visibly higher than AI across all response groups.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111065" y="5235473"/>
            <a:ext cx="6102696" cy="1305820"/>
            <a:chOff x="0" y="0"/>
            <a:chExt cx="8136928" cy="1741094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8098790" cy="1702943"/>
            </a:xfrm>
            <a:custGeom>
              <a:avLst/>
              <a:gdLst/>
              <a:ahLst/>
              <a:cxnLst/>
              <a:rect l="l" t="t" r="r" b="b"/>
              <a:pathLst>
                <a:path w="8098790" h="1702943">
                  <a:moveTo>
                    <a:pt x="0" y="182880"/>
                  </a:moveTo>
                  <a:cubicBezTo>
                    <a:pt x="0" y="81915"/>
                    <a:pt x="83312" y="0"/>
                    <a:pt x="186055" y="0"/>
                  </a:cubicBezTo>
                  <a:lnTo>
                    <a:pt x="7912736" y="0"/>
                  </a:lnTo>
                  <a:cubicBezTo>
                    <a:pt x="8015478" y="0"/>
                    <a:pt x="8098790" y="81915"/>
                    <a:pt x="8098790" y="182880"/>
                  </a:cubicBezTo>
                  <a:lnTo>
                    <a:pt x="8098790" y="1520063"/>
                  </a:lnTo>
                  <a:cubicBezTo>
                    <a:pt x="8098790" y="1621028"/>
                    <a:pt x="8015478" y="1702943"/>
                    <a:pt x="7912736" y="1702943"/>
                  </a:cubicBezTo>
                  <a:lnTo>
                    <a:pt x="186055" y="1702943"/>
                  </a:lnTo>
                  <a:cubicBezTo>
                    <a:pt x="83312" y="1702943"/>
                    <a:pt x="0" y="1621028"/>
                    <a:pt x="0" y="1520063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8136890" cy="1741043"/>
            </a:xfrm>
            <a:custGeom>
              <a:avLst/>
              <a:gdLst/>
              <a:ahLst/>
              <a:cxnLst/>
              <a:rect l="l" t="t" r="r" b="b"/>
              <a:pathLst>
                <a:path w="8136890" h="1741043">
                  <a:moveTo>
                    <a:pt x="0" y="201930"/>
                  </a:moveTo>
                  <a:cubicBezTo>
                    <a:pt x="0" y="90043"/>
                    <a:pt x="92202" y="0"/>
                    <a:pt x="205105" y="0"/>
                  </a:cubicBezTo>
                  <a:lnTo>
                    <a:pt x="7931786" y="0"/>
                  </a:lnTo>
                  <a:lnTo>
                    <a:pt x="7931786" y="19050"/>
                  </a:lnTo>
                  <a:lnTo>
                    <a:pt x="7931786" y="0"/>
                  </a:lnTo>
                  <a:cubicBezTo>
                    <a:pt x="8044815" y="0"/>
                    <a:pt x="8136890" y="90043"/>
                    <a:pt x="8136890" y="201930"/>
                  </a:cubicBezTo>
                  <a:lnTo>
                    <a:pt x="8117840" y="201930"/>
                  </a:lnTo>
                  <a:lnTo>
                    <a:pt x="8136890" y="201930"/>
                  </a:lnTo>
                  <a:lnTo>
                    <a:pt x="8136890" y="1539113"/>
                  </a:lnTo>
                  <a:lnTo>
                    <a:pt x="8117840" y="1539113"/>
                  </a:lnTo>
                  <a:lnTo>
                    <a:pt x="8136890" y="1539113"/>
                  </a:lnTo>
                  <a:cubicBezTo>
                    <a:pt x="8136890" y="1651000"/>
                    <a:pt x="8044688" y="1741043"/>
                    <a:pt x="7931786" y="1741043"/>
                  </a:cubicBezTo>
                  <a:lnTo>
                    <a:pt x="7931786" y="1721993"/>
                  </a:lnTo>
                  <a:lnTo>
                    <a:pt x="7931786" y="1741043"/>
                  </a:lnTo>
                  <a:lnTo>
                    <a:pt x="205105" y="1741043"/>
                  </a:lnTo>
                  <a:lnTo>
                    <a:pt x="205105" y="1721993"/>
                  </a:lnTo>
                  <a:lnTo>
                    <a:pt x="205105" y="1741043"/>
                  </a:lnTo>
                  <a:cubicBezTo>
                    <a:pt x="92202" y="1741043"/>
                    <a:pt x="0" y="1651000"/>
                    <a:pt x="0" y="153911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539113"/>
                  </a:lnTo>
                  <a:lnTo>
                    <a:pt x="19050" y="1539113"/>
                  </a:lnTo>
                  <a:lnTo>
                    <a:pt x="38100" y="1539113"/>
                  </a:lnTo>
                  <a:cubicBezTo>
                    <a:pt x="38100" y="1629283"/>
                    <a:pt x="112522" y="1702943"/>
                    <a:pt x="205105" y="1702943"/>
                  </a:cubicBezTo>
                  <a:lnTo>
                    <a:pt x="7931786" y="1702943"/>
                  </a:lnTo>
                  <a:cubicBezTo>
                    <a:pt x="8024368" y="1702943"/>
                    <a:pt x="8098790" y="1629283"/>
                    <a:pt x="8098790" y="1539113"/>
                  </a:cubicBezTo>
                  <a:lnTo>
                    <a:pt x="8098790" y="201930"/>
                  </a:lnTo>
                  <a:cubicBezTo>
                    <a:pt x="8098790" y="111760"/>
                    <a:pt x="8024368" y="38100"/>
                    <a:pt x="7931786" y="38100"/>
                  </a:cubicBezTo>
                  <a:lnTo>
                    <a:pt x="205105" y="38100"/>
                  </a:lnTo>
                  <a:lnTo>
                    <a:pt x="205105" y="19050"/>
                  </a:lnTo>
                  <a:lnTo>
                    <a:pt x="205105" y="38100"/>
                  </a:lnTo>
                  <a:cubicBezTo>
                    <a:pt x="112522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1096777" y="5249761"/>
            <a:ext cx="114300" cy="1277245"/>
            <a:chOff x="0" y="0"/>
            <a:chExt cx="152400" cy="17029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1702943"/>
            </a:xfrm>
            <a:custGeom>
              <a:avLst/>
              <a:gdLst/>
              <a:ahLst/>
              <a:cxnLst/>
              <a:rect l="l" t="t" r="r" b="b"/>
              <a:pathLst>
                <a:path w="152400" h="1702943">
                  <a:moveTo>
                    <a:pt x="0" y="49530"/>
                  </a:moveTo>
                  <a:cubicBezTo>
                    <a:pt x="0" y="22225"/>
                    <a:pt x="22225" y="0"/>
                    <a:pt x="49530" y="0"/>
                  </a:cubicBezTo>
                  <a:lnTo>
                    <a:pt x="102870" y="0"/>
                  </a:lnTo>
                  <a:cubicBezTo>
                    <a:pt x="130175" y="0"/>
                    <a:pt x="152400" y="22225"/>
                    <a:pt x="152400" y="49530"/>
                  </a:cubicBezTo>
                  <a:lnTo>
                    <a:pt x="152400" y="1653413"/>
                  </a:lnTo>
                  <a:cubicBezTo>
                    <a:pt x="152400" y="1680845"/>
                    <a:pt x="130175" y="1702943"/>
                    <a:pt x="102870" y="1702943"/>
                  </a:cubicBezTo>
                  <a:lnTo>
                    <a:pt x="49530" y="1702943"/>
                  </a:lnTo>
                  <a:cubicBezTo>
                    <a:pt x="22098" y="1702943"/>
                    <a:pt x="0" y="1680718"/>
                    <a:pt x="0" y="1653413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1487302" y="5468836"/>
            <a:ext cx="5435946" cy="78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Both distributions</a:t>
            </a: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span the full 1–10 range, showing real disagreement among students.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111065" y="6717802"/>
            <a:ext cx="6102696" cy="2030616"/>
            <a:chOff x="0" y="0"/>
            <a:chExt cx="8136928" cy="2707488"/>
          </a:xfrm>
        </p:grpSpPr>
        <p:sp>
          <p:nvSpPr>
            <p:cNvPr id="28" name="Freeform 28"/>
            <p:cNvSpPr/>
            <p:nvPr/>
          </p:nvSpPr>
          <p:spPr>
            <a:xfrm>
              <a:off x="19050" y="19050"/>
              <a:ext cx="8098917" cy="2669413"/>
            </a:xfrm>
            <a:custGeom>
              <a:avLst/>
              <a:gdLst/>
              <a:ahLst/>
              <a:cxnLst/>
              <a:rect l="l" t="t" r="r" b="b"/>
              <a:pathLst>
                <a:path w="8098917" h="2669413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7914259" y="0"/>
                  </a:lnTo>
                  <a:cubicBezTo>
                    <a:pt x="8016240" y="0"/>
                    <a:pt x="8098917" y="81915"/>
                    <a:pt x="8098917" y="182880"/>
                  </a:cubicBezTo>
                  <a:lnTo>
                    <a:pt x="8098917" y="2486533"/>
                  </a:lnTo>
                  <a:cubicBezTo>
                    <a:pt x="8098917" y="2587498"/>
                    <a:pt x="8016240" y="2669413"/>
                    <a:pt x="7914259" y="2669413"/>
                  </a:cubicBezTo>
                  <a:lnTo>
                    <a:pt x="184658" y="2669413"/>
                  </a:lnTo>
                  <a:cubicBezTo>
                    <a:pt x="82677" y="2669413"/>
                    <a:pt x="0" y="2587498"/>
                    <a:pt x="0" y="2486533"/>
                  </a:cubicBezTo>
                  <a:close/>
                </a:path>
              </a:pathLst>
            </a:custGeom>
            <a:solidFill>
              <a:srgbClr val="123332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8137017" cy="2707513"/>
            </a:xfrm>
            <a:custGeom>
              <a:avLst/>
              <a:gdLst/>
              <a:ahLst/>
              <a:cxnLst/>
              <a:rect l="l" t="t" r="r" b="b"/>
              <a:pathLst>
                <a:path w="8137017" h="2707513">
                  <a:moveTo>
                    <a:pt x="0" y="201930"/>
                  </a:moveTo>
                  <a:cubicBezTo>
                    <a:pt x="0" y="90297"/>
                    <a:pt x="91313" y="0"/>
                    <a:pt x="203708" y="0"/>
                  </a:cubicBezTo>
                  <a:lnTo>
                    <a:pt x="7933309" y="0"/>
                  </a:lnTo>
                  <a:lnTo>
                    <a:pt x="7933309" y="19050"/>
                  </a:lnTo>
                  <a:lnTo>
                    <a:pt x="7933309" y="0"/>
                  </a:lnTo>
                  <a:cubicBezTo>
                    <a:pt x="8045577" y="0"/>
                    <a:pt x="8137017" y="90297"/>
                    <a:pt x="8137017" y="201930"/>
                  </a:cubicBezTo>
                  <a:lnTo>
                    <a:pt x="8117967" y="201930"/>
                  </a:lnTo>
                  <a:lnTo>
                    <a:pt x="8137017" y="201930"/>
                  </a:lnTo>
                  <a:lnTo>
                    <a:pt x="8137017" y="2505583"/>
                  </a:lnTo>
                  <a:lnTo>
                    <a:pt x="8117967" y="2505583"/>
                  </a:lnTo>
                  <a:lnTo>
                    <a:pt x="8137017" y="2505583"/>
                  </a:lnTo>
                  <a:cubicBezTo>
                    <a:pt x="8137017" y="2617216"/>
                    <a:pt x="8045703" y="2707513"/>
                    <a:pt x="7933309" y="2707513"/>
                  </a:cubicBezTo>
                  <a:lnTo>
                    <a:pt x="7933309" y="2688463"/>
                  </a:lnTo>
                  <a:lnTo>
                    <a:pt x="7933309" y="2707513"/>
                  </a:lnTo>
                  <a:lnTo>
                    <a:pt x="203708" y="2707513"/>
                  </a:lnTo>
                  <a:lnTo>
                    <a:pt x="203708" y="2688463"/>
                  </a:lnTo>
                  <a:lnTo>
                    <a:pt x="203708" y="2707513"/>
                  </a:lnTo>
                  <a:cubicBezTo>
                    <a:pt x="91313" y="2707513"/>
                    <a:pt x="0" y="2617216"/>
                    <a:pt x="0" y="250558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505583"/>
                  </a:lnTo>
                  <a:lnTo>
                    <a:pt x="19050" y="2505583"/>
                  </a:lnTo>
                  <a:lnTo>
                    <a:pt x="38100" y="2505583"/>
                  </a:lnTo>
                  <a:cubicBezTo>
                    <a:pt x="38100" y="2595880"/>
                    <a:pt x="112014" y="2669413"/>
                    <a:pt x="203708" y="2669413"/>
                  </a:cubicBezTo>
                  <a:lnTo>
                    <a:pt x="7933309" y="2669413"/>
                  </a:lnTo>
                  <a:cubicBezTo>
                    <a:pt x="8024876" y="2669413"/>
                    <a:pt x="8098917" y="2595880"/>
                    <a:pt x="8098917" y="2505583"/>
                  </a:cubicBezTo>
                  <a:lnTo>
                    <a:pt x="8098917" y="201930"/>
                  </a:lnTo>
                  <a:cubicBezTo>
                    <a:pt x="8098917" y="111633"/>
                    <a:pt x="8025002" y="38100"/>
                    <a:pt x="7933309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A6B6A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096777" y="6732089"/>
            <a:ext cx="114300" cy="2002041"/>
            <a:chOff x="0" y="0"/>
            <a:chExt cx="152400" cy="26693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2400" cy="2669413"/>
            </a:xfrm>
            <a:custGeom>
              <a:avLst/>
              <a:gdLst/>
              <a:ahLst/>
              <a:cxnLst/>
              <a:rect l="l" t="t" r="r" b="b"/>
              <a:pathLst>
                <a:path w="152400" h="2669413">
                  <a:moveTo>
                    <a:pt x="0" y="49530"/>
                  </a:moveTo>
                  <a:cubicBezTo>
                    <a:pt x="0" y="22225"/>
                    <a:pt x="22225" y="0"/>
                    <a:pt x="49530" y="0"/>
                  </a:cubicBezTo>
                  <a:lnTo>
                    <a:pt x="102870" y="0"/>
                  </a:lnTo>
                  <a:cubicBezTo>
                    <a:pt x="130175" y="0"/>
                    <a:pt x="152400" y="22225"/>
                    <a:pt x="152400" y="49530"/>
                  </a:cubicBezTo>
                  <a:lnTo>
                    <a:pt x="152400" y="2619883"/>
                  </a:lnTo>
                  <a:cubicBezTo>
                    <a:pt x="152400" y="2647315"/>
                    <a:pt x="130175" y="2669413"/>
                    <a:pt x="102870" y="2669413"/>
                  </a:cubicBezTo>
                  <a:lnTo>
                    <a:pt x="49530" y="2669413"/>
                  </a:lnTo>
                  <a:cubicBezTo>
                    <a:pt x="22098" y="2669413"/>
                    <a:pt x="0" y="2647188"/>
                    <a:pt x="0" y="2619883"/>
                  </a:cubicBezTo>
                  <a:close/>
                </a:path>
              </a:pathLst>
            </a:custGeom>
            <a:solidFill>
              <a:srgbClr val="EF9C82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1487302" y="6951164"/>
            <a:ext cx="5435946" cy="150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The overlap</a:t>
            </a:r>
            <a:r>
              <a:rPr lang="en-US" sz="193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between scores confirms the difference is real but not extreme — making the paired t-test the right tool to confirm significance.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49709" y="798014"/>
            <a:ext cx="2062162" cy="427882"/>
            <a:chOff x="0" y="0"/>
            <a:chExt cx="2749550" cy="5705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9550" cy="570484"/>
            </a:xfrm>
            <a:custGeom>
              <a:avLst/>
              <a:gdLst/>
              <a:ahLst/>
              <a:cxnLst/>
              <a:rect l="l" t="t" r="r" b="b"/>
              <a:pathLst>
                <a:path w="2749550" h="570484">
                  <a:moveTo>
                    <a:pt x="0" y="38862"/>
                  </a:moveTo>
                  <a:cubicBezTo>
                    <a:pt x="0" y="17399"/>
                    <a:pt x="17399" y="0"/>
                    <a:pt x="38862" y="0"/>
                  </a:cubicBezTo>
                  <a:lnTo>
                    <a:pt x="2710688" y="0"/>
                  </a:lnTo>
                  <a:cubicBezTo>
                    <a:pt x="2732151" y="0"/>
                    <a:pt x="2749550" y="17399"/>
                    <a:pt x="2749550" y="38862"/>
                  </a:cubicBezTo>
                  <a:lnTo>
                    <a:pt x="2749550" y="531622"/>
                  </a:lnTo>
                  <a:cubicBezTo>
                    <a:pt x="2749550" y="553085"/>
                    <a:pt x="2732151" y="570484"/>
                    <a:pt x="2710688" y="570484"/>
                  </a:cubicBezTo>
                  <a:lnTo>
                    <a:pt x="38862" y="570484"/>
                  </a:lnTo>
                  <a:cubicBezTo>
                    <a:pt x="17399" y="570484"/>
                    <a:pt x="0" y="553085"/>
                    <a:pt x="0" y="531622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395565" y="823322"/>
            <a:ext cx="1770459" cy="32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HYPOTHESIS TEST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9708" y="1276198"/>
            <a:ext cx="15057091" cy="701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Students Perceive Human Grading as Significantly Fairer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9709" y="2494512"/>
            <a:ext cx="2860177" cy="37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Paired t-Test Results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44946" y="3088481"/>
            <a:ext cx="7607351" cy="4698206"/>
            <a:chOff x="0" y="0"/>
            <a:chExt cx="10143134" cy="62642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43110" cy="6264275"/>
            </a:xfrm>
            <a:custGeom>
              <a:avLst/>
              <a:gdLst/>
              <a:ahLst/>
              <a:cxnLst/>
              <a:rect l="l" t="t" r="r" b="b"/>
              <a:pathLst>
                <a:path w="10143110" h="6264275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10088118" y="0"/>
                  </a:lnTo>
                  <a:lnTo>
                    <a:pt x="10088118" y="6350"/>
                  </a:lnTo>
                  <a:lnTo>
                    <a:pt x="10088118" y="0"/>
                  </a:lnTo>
                  <a:cubicBezTo>
                    <a:pt x="10118472" y="0"/>
                    <a:pt x="10143110" y="24638"/>
                    <a:pt x="10143110" y="54991"/>
                  </a:cubicBezTo>
                  <a:lnTo>
                    <a:pt x="10136760" y="54991"/>
                  </a:lnTo>
                  <a:lnTo>
                    <a:pt x="10143110" y="54991"/>
                  </a:lnTo>
                  <a:lnTo>
                    <a:pt x="10143110" y="6209284"/>
                  </a:lnTo>
                  <a:lnTo>
                    <a:pt x="10136760" y="6209284"/>
                  </a:lnTo>
                  <a:lnTo>
                    <a:pt x="10143110" y="6209284"/>
                  </a:lnTo>
                  <a:cubicBezTo>
                    <a:pt x="10143110" y="6239637"/>
                    <a:pt x="10118472" y="6264275"/>
                    <a:pt x="10088118" y="6264275"/>
                  </a:cubicBezTo>
                  <a:lnTo>
                    <a:pt x="10088118" y="6257925"/>
                  </a:lnTo>
                  <a:lnTo>
                    <a:pt x="10088118" y="6264275"/>
                  </a:lnTo>
                  <a:lnTo>
                    <a:pt x="54991" y="6264275"/>
                  </a:lnTo>
                  <a:lnTo>
                    <a:pt x="54991" y="6257925"/>
                  </a:lnTo>
                  <a:lnTo>
                    <a:pt x="54991" y="6264275"/>
                  </a:lnTo>
                  <a:cubicBezTo>
                    <a:pt x="24638" y="6264275"/>
                    <a:pt x="0" y="6239637"/>
                    <a:pt x="0" y="6209284"/>
                  </a:cubicBezTo>
                  <a:lnTo>
                    <a:pt x="0" y="54991"/>
                  </a:lnTo>
                  <a:lnTo>
                    <a:pt x="6350" y="54991"/>
                  </a:lnTo>
                  <a:lnTo>
                    <a:pt x="0" y="54991"/>
                  </a:lnTo>
                  <a:moveTo>
                    <a:pt x="12700" y="54991"/>
                  </a:moveTo>
                  <a:lnTo>
                    <a:pt x="12700" y="6209284"/>
                  </a:lnTo>
                  <a:lnTo>
                    <a:pt x="6350" y="6209284"/>
                  </a:lnTo>
                  <a:lnTo>
                    <a:pt x="12700" y="6209284"/>
                  </a:lnTo>
                  <a:cubicBezTo>
                    <a:pt x="12700" y="6232652"/>
                    <a:pt x="31623" y="6251575"/>
                    <a:pt x="54991" y="6251575"/>
                  </a:cubicBezTo>
                  <a:lnTo>
                    <a:pt x="10088118" y="6251575"/>
                  </a:lnTo>
                  <a:cubicBezTo>
                    <a:pt x="10111487" y="6251575"/>
                    <a:pt x="10130410" y="6232652"/>
                    <a:pt x="10130410" y="6209284"/>
                  </a:cubicBezTo>
                  <a:lnTo>
                    <a:pt x="10130410" y="54991"/>
                  </a:lnTo>
                  <a:cubicBezTo>
                    <a:pt x="10130410" y="31623"/>
                    <a:pt x="10111487" y="12700"/>
                    <a:pt x="10088118" y="12700"/>
                  </a:cubicBezTo>
                  <a:lnTo>
                    <a:pt x="54991" y="12700"/>
                  </a:lnTo>
                  <a:lnTo>
                    <a:pt x="54991" y="6350"/>
                  </a:lnTo>
                  <a:lnTo>
                    <a:pt x="54991" y="12700"/>
                  </a:lnTo>
                  <a:cubicBezTo>
                    <a:pt x="31623" y="12700"/>
                    <a:pt x="12700" y="31623"/>
                    <a:pt x="12700" y="54991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502416" y="3164091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Test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96491" y="3164091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Result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2416" y="3782168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Test type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96491" y="3782168"/>
            <a:ext cx="3298479" cy="77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Paired t-test (same students rated both)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2416" y="4752823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t-statistic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96491" y="4752823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2.615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2416" y="5370909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p-value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96491" y="5370909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EF9C82"/>
                </a:solidFill>
                <a:latin typeface="Quattrocento"/>
                <a:ea typeface="Quattrocento"/>
                <a:cs typeface="Quattrocento"/>
                <a:sym typeface="Quattrocento"/>
              </a:rPr>
              <a:t>0.0105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2416" y="5988996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95% Confidence Interval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96491" y="5988996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[0.21, 1.57]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2416" y="6607073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Significance level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96491" y="6607073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α = 0.05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02416" y="7225160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Decision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96491" y="7225160"/>
            <a:ext cx="3298479" cy="41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Reject H₀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49709" y="8004124"/>
            <a:ext cx="7597826" cy="1262510"/>
            <a:chOff x="0" y="0"/>
            <a:chExt cx="10130434" cy="168334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30410" cy="1683385"/>
            </a:xfrm>
            <a:custGeom>
              <a:avLst/>
              <a:gdLst/>
              <a:ahLst/>
              <a:cxnLst/>
              <a:rect l="l" t="t" r="r" b="b"/>
              <a:pathLst>
                <a:path w="10130410" h="1683385">
                  <a:moveTo>
                    <a:pt x="0" y="48641"/>
                  </a:moveTo>
                  <a:cubicBezTo>
                    <a:pt x="0" y="21717"/>
                    <a:pt x="21717" y="0"/>
                    <a:pt x="48641" y="0"/>
                  </a:cubicBezTo>
                  <a:lnTo>
                    <a:pt x="10081768" y="0"/>
                  </a:lnTo>
                  <a:cubicBezTo>
                    <a:pt x="10108565" y="0"/>
                    <a:pt x="10130410" y="21717"/>
                    <a:pt x="10130410" y="48641"/>
                  </a:cubicBezTo>
                  <a:lnTo>
                    <a:pt x="10130410" y="1634744"/>
                  </a:lnTo>
                  <a:cubicBezTo>
                    <a:pt x="10130410" y="1661541"/>
                    <a:pt x="10108692" y="1683385"/>
                    <a:pt x="10081768" y="1683385"/>
                  </a:cubicBezTo>
                  <a:lnTo>
                    <a:pt x="48641" y="1683385"/>
                  </a:lnTo>
                  <a:cubicBezTo>
                    <a:pt x="21844" y="1683385"/>
                    <a:pt x="0" y="1661668"/>
                    <a:pt x="0" y="1634744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492748" y="8342862"/>
            <a:ext cx="303762" cy="243040"/>
            <a:chOff x="0" y="0"/>
            <a:chExt cx="405016" cy="324053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405003" cy="324104"/>
            </a:xfrm>
            <a:custGeom>
              <a:avLst/>
              <a:gdLst/>
              <a:ahLst/>
              <a:cxnLst/>
              <a:rect l="l" t="t" r="r" b="b"/>
              <a:pathLst>
                <a:path w="405003" h="324104">
                  <a:moveTo>
                    <a:pt x="0" y="0"/>
                  </a:moveTo>
                  <a:lnTo>
                    <a:pt x="405003" y="0"/>
                  </a:lnTo>
                  <a:lnTo>
                    <a:pt x="405003" y="324104"/>
                  </a:lnTo>
                  <a:lnTo>
                    <a:pt x="0" y="324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75" r="-3" b="-756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2039541" y="8195672"/>
            <a:ext cx="6564954" cy="77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Result:</a:t>
            </a:r>
            <a:r>
              <a:rPr lang="en-US" sz="18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The difference in fairness ratings is statistically significant. p = 0.0105 &lt; 0.05.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49991" y="2494512"/>
            <a:ext cx="2860177" cy="37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What This Means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49991" y="3001861"/>
            <a:ext cx="7597826" cy="112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The p-value (0.0105) is below the 0.05 threshold. This means the difference in fairness ratings is </a:t>
            </a:r>
            <a:r>
              <a:rPr lang="en-US" sz="1874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not due to chance</a:t>
            </a: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it is statistically significant.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49991" y="4237282"/>
            <a:ext cx="7597826" cy="1019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Students gave human grading an average score of </a:t>
            </a:r>
            <a:r>
              <a:rPr lang="en-US" sz="1874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6.90</a:t>
            </a: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vs. </a:t>
            </a:r>
            <a:r>
              <a:rPr lang="en-US" sz="1874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6.06</a:t>
            </a: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for AI grading. We are 95% confident the true difference is between </a:t>
            </a:r>
            <a:r>
              <a:rPr lang="en-US" sz="1874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0.21 and 1.57 points</a:t>
            </a: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consistently in </a:t>
            </a:r>
            <a:r>
              <a:rPr lang="en-US" sz="1874" dirty="0" err="1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favour</a:t>
            </a: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of human grading.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49991" y="5540131"/>
            <a:ext cx="2860177" cy="37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Why Paired t-Test?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49991" y="6047480"/>
            <a:ext cx="7597826" cy="1019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The same 116 students rated both systems. A paired test removes individual variation and isolates the real effect of grading type — making it the most appropriate statistical tool for this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01518" y="709765"/>
            <a:ext cx="4465882" cy="464344"/>
            <a:chOff x="0" y="0"/>
            <a:chExt cx="3123006" cy="5560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2930" cy="556006"/>
            </a:xfrm>
            <a:custGeom>
              <a:avLst/>
              <a:gdLst/>
              <a:ahLst/>
              <a:cxnLst/>
              <a:rect l="l" t="t" r="r" b="b"/>
              <a:pathLst>
                <a:path w="3122930" h="556006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3084830" y="0"/>
                  </a:lnTo>
                  <a:cubicBezTo>
                    <a:pt x="3105912" y="0"/>
                    <a:pt x="3122930" y="17018"/>
                    <a:pt x="3122930" y="38100"/>
                  </a:cubicBezTo>
                  <a:lnTo>
                    <a:pt x="3122930" y="517906"/>
                  </a:lnTo>
                  <a:cubicBezTo>
                    <a:pt x="3122930" y="538988"/>
                    <a:pt x="3105912" y="556006"/>
                    <a:pt x="3084830" y="556006"/>
                  </a:cubicBezTo>
                  <a:lnTo>
                    <a:pt x="38100" y="556006"/>
                  </a:lnTo>
                  <a:cubicBezTo>
                    <a:pt x="17018" y="556006"/>
                    <a:pt x="0" y="538988"/>
                    <a:pt x="0" y="517906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544536" y="733576"/>
            <a:ext cx="2951264" cy="256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500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GRADING PREFERENCE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1518" y="1174109"/>
            <a:ext cx="15484821" cy="1431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dirty="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Most Students Want Humans in the Loop — Very Few Want Full AI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08363" y="3103959"/>
            <a:ext cx="7841199" cy="4274934"/>
            <a:chOff x="0" y="0"/>
            <a:chExt cx="10454932" cy="56999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54894" cy="5699887"/>
            </a:xfrm>
            <a:custGeom>
              <a:avLst/>
              <a:gdLst/>
              <a:ahLst/>
              <a:cxnLst/>
              <a:rect l="l" t="t" r="r" b="b"/>
              <a:pathLst>
                <a:path w="10454894" h="5699887">
                  <a:moveTo>
                    <a:pt x="0" y="0"/>
                  </a:moveTo>
                  <a:lnTo>
                    <a:pt x="10454894" y="0"/>
                  </a:lnTo>
                  <a:lnTo>
                    <a:pt x="10454894" y="5699887"/>
                  </a:lnTo>
                  <a:lnTo>
                    <a:pt x="0" y="5699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780128" y="3835165"/>
            <a:ext cx="116148" cy="12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24907" y="6105077"/>
            <a:ext cx="116148" cy="12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69675" y="3673021"/>
            <a:ext cx="116148" cy="120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1518" y="7883128"/>
            <a:ext cx="8254898" cy="327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Preferred grading system across 116 Year 2 students cohort 2025. N = 116.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7557" y="3061097"/>
            <a:ext cx="2805112" cy="36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Breakdown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47557" y="3644503"/>
            <a:ext cx="3229127" cy="2045198"/>
            <a:chOff x="0" y="0"/>
            <a:chExt cx="4305503" cy="27269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05554" cy="2726944"/>
            </a:xfrm>
            <a:custGeom>
              <a:avLst/>
              <a:gdLst/>
              <a:ahLst/>
              <a:cxnLst/>
              <a:rect l="l" t="t" r="r" b="b"/>
              <a:pathLst>
                <a:path w="4305554" h="272694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4257802" y="0"/>
                  </a:lnTo>
                  <a:cubicBezTo>
                    <a:pt x="4284091" y="0"/>
                    <a:pt x="4305554" y="21336"/>
                    <a:pt x="4305554" y="47752"/>
                  </a:cubicBezTo>
                  <a:lnTo>
                    <a:pt x="4305554" y="2679192"/>
                  </a:lnTo>
                  <a:cubicBezTo>
                    <a:pt x="4305554" y="2705481"/>
                    <a:pt x="4284218" y="2726944"/>
                    <a:pt x="4257802" y="2726944"/>
                  </a:cubicBezTo>
                  <a:lnTo>
                    <a:pt x="47752" y="2726944"/>
                  </a:lnTo>
                  <a:cubicBezTo>
                    <a:pt x="21463" y="2726944"/>
                    <a:pt x="0" y="2705608"/>
                    <a:pt x="0" y="2679192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0485987" y="3863873"/>
            <a:ext cx="2752277" cy="36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45% — Hybrid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85987" y="4366317"/>
            <a:ext cx="2752277" cy="108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41 students prefer AI scoring with human review. The #1 choice.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666584" y="3644503"/>
            <a:ext cx="3229127" cy="2045198"/>
            <a:chOff x="0" y="0"/>
            <a:chExt cx="4305503" cy="27269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05554" cy="2726944"/>
            </a:xfrm>
            <a:custGeom>
              <a:avLst/>
              <a:gdLst/>
              <a:ahLst/>
              <a:cxnLst/>
              <a:rect l="l" t="t" r="r" b="b"/>
              <a:pathLst>
                <a:path w="4305554" h="2726944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4257802" y="0"/>
                  </a:lnTo>
                  <a:cubicBezTo>
                    <a:pt x="4284091" y="0"/>
                    <a:pt x="4305554" y="21336"/>
                    <a:pt x="4305554" y="47752"/>
                  </a:cubicBezTo>
                  <a:lnTo>
                    <a:pt x="4305554" y="2679192"/>
                  </a:lnTo>
                  <a:cubicBezTo>
                    <a:pt x="4305554" y="2705481"/>
                    <a:pt x="4284218" y="2726944"/>
                    <a:pt x="4257802" y="2726944"/>
                  </a:cubicBezTo>
                  <a:lnTo>
                    <a:pt x="47752" y="2726944"/>
                  </a:lnTo>
                  <a:cubicBezTo>
                    <a:pt x="21463" y="2726944"/>
                    <a:pt x="0" y="2705608"/>
                    <a:pt x="0" y="2679192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3905014" y="3863873"/>
            <a:ext cx="2752277" cy="36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43% — Human Only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05014" y="4366317"/>
            <a:ext cx="2752277" cy="108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39 students prefer human grading exclusively.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247557" y="5879602"/>
            <a:ext cx="6648155" cy="1702594"/>
            <a:chOff x="0" y="0"/>
            <a:chExt cx="8864206" cy="22701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64219" cy="2270125"/>
            </a:xfrm>
            <a:custGeom>
              <a:avLst/>
              <a:gdLst/>
              <a:ahLst/>
              <a:cxnLst/>
              <a:rect l="l" t="t" r="r" b="b"/>
              <a:pathLst>
                <a:path w="8864219" h="2270125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8816467" y="0"/>
                  </a:lnTo>
                  <a:cubicBezTo>
                    <a:pt x="8842756" y="0"/>
                    <a:pt x="8864219" y="21336"/>
                    <a:pt x="8864219" y="47752"/>
                  </a:cubicBezTo>
                  <a:lnTo>
                    <a:pt x="8864219" y="2222373"/>
                  </a:lnTo>
                  <a:cubicBezTo>
                    <a:pt x="8864219" y="2248662"/>
                    <a:pt x="8842883" y="2270125"/>
                    <a:pt x="8816467" y="2270125"/>
                  </a:cubicBezTo>
                  <a:lnTo>
                    <a:pt x="47752" y="2270125"/>
                  </a:lnTo>
                  <a:cubicBezTo>
                    <a:pt x="21463" y="2270125"/>
                    <a:pt x="0" y="2248789"/>
                    <a:pt x="0" y="2222373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0485987" y="6098972"/>
            <a:ext cx="2805112" cy="36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12% — AI Only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85987" y="6601416"/>
            <a:ext cx="6171305" cy="742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Only 11 students want full AI grading with no human involvement.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247557" y="7795917"/>
            <a:ext cx="6648155" cy="1567453"/>
            <a:chOff x="0" y="0"/>
            <a:chExt cx="8864206" cy="208993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864219" cy="2090039"/>
            </a:xfrm>
            <a:custGeom>
              <a:avLst/>
              <a:gdLst/>
              <a:ahLst/>
              <a:cxnLst/>
              <a:rect l="l" t="t" r="r" b="b"/>
              <a:pathLst>
                <a:path w="8864219" h="2090039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8816467" y="0"/>
                  </a:lnTo>
                  <a:cubicBezTo>
                    <a:pt x="8842756" y="0"/>
                    <a:pt x="8864219" y="21336"/>
                    <a:pt x="8864219" y="47752"/>
                  </a:cubicBezTo>
                  <a:lnTo>
                    <a:pt x="8864219" y="2042287"/>
                  </a:lnTo>
                  <a:cubicBezTo>
                    <a:pt x="8864219" y="2068576"/>
                    <a:pt x="8842883" y="2090039"/>
                    <a:pt x="8816467" y="2090039"/>
                  </a:cubicBezTo>
                  <a:lnTo>
                    <a:pt x="47752" y="2090039"/>
                  </a:lnTo>
                  <a:cubicBezTo>
                    <a:pt x="21463" y="2090039"/>
                    <a:pt x="0" y="2068703"/>
                    <a:pt x="0" y="2042287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485987" y="8113814"/>
            <a:ext cx="297952" cy="238420"/>
            <a:chOff x="0" y="0"/>
            <a:chExt cx="397269" cy="317894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397256" cy="317881"/>
            </a:xfrm>
            <a:custGeom>
              <a:avLst/>
              <a:gdLst/>
              <a:ahLst/>
              <a:cxnLst/>
              <a:rect l="l" t="t" r="r" b="b"/>
              <a:pathLst>
                <a:path w="397256" h="317881">
                  <a:moveTo>
                    <a:pt x="0" y="0"/>
                  </a:moveTo>
                  <a:lnTo>
                    <a:pt x="397256" y="0"/>
                  </a:lnTo>
                  <a:lnTo>
                    <a:pt x="397256" y="317881"/>
                  </a:lnTo>
                  <a:lnTo>
                    <a:pt x="0" y="317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91" r="-3" b="-395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1022359" y="7988198"/>
            <a:ext cx="5634933" cy="108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 b="1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88% of students</a:t>
            </a:r>
            <a:r>
              <a:rPr lang="en-US" sz="1874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want a human involved in some form. This is not about rejecting AI — it is about wanting accountability and oversight.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008737" y="644281"/>
            <a:ext cx="3581248" cy="375342"/>
            <a:chOff x="0" y="0"/>
            <a:chExt cx="4774997" cy="5004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75073" cy="500507"/>
            </a:xfrm>
            <a:custGeom>
              <a:avLst/>
              <a:gdLst/>
              <a:ahLst/>
              <a:cxnLst/>
              <a:rect l="l" t="t" r="r" b="b"/>
              <a:pathLst>
                <a:path w="4775073" h="500507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4739894" y="0"/>
                  </a:lnTo>
                  <a:cubicBezTo>
                    <a:pt x="4759325" y="0"/>
                    <a:pt x="4775073" y="15748"/>
                    <a:pt x="4775073" y="35179"/>
                  </a:cubicBezTo>
                  <a:lnTo>
                    <a:pt x="4775073" y="465328"/>
                  </a:lnTo>
                  <a:cubicBezTo>
                    <a:pt x="4775073" y="484759"/>
                    <a:pt x="4759325" y="500507"/>
                    <a:pt x="4739894" y="500507"/>
                  </a:cubicBezTo>
                  <a:lnTo>
                    <a:pt x="35179" y="500507"/>
                  </a:lnTo>
                  <a:cubicBezTo>
                    <a:pt x="15748" y="500507"/>
                    <a:pt x="0" y="484759"/>
                    <a:pt x="0" y="465328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140448" y="681485"/>
            <a:ext cx="3955552" cy="232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 COMFORT AREAS + CHI-SQUARE TEST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8737" y="1055484"/>
            <a:ext cx="14270384" cy="132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Students Are Comfortable with AI for Objective Tasks — Not Subjective Ones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36899" y="8509244"/>
            <a:ext cx="7607351" cy="90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Students trust AI most for clear, rule-based tasks (quizzes: 70/116). Trust drops sharply for essays and oral assessments — areas requiring nuance, creativity, and human judgement.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3062532" y="1670787"/>
            <a:ext cx="5541264" cy="7759309"/>
            <a:chOff x="0" y="0"/>
            <a:chExt cx="7383889" cy="1034574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83889" cy="10345746"/>
            </a:xfrm>
            <a:custGeom>
              <a:avLst/>
              <a:gdLst/>
              <a:ahLst/>
              <a:cxnLst/>
              <a:rect l="l" t="t" r="r" b="b"/>
              <a:pathLst>
                <a:path w="7350125" h="10367899">
                  <a:moveTo>
                    <a:pt x="0" y="0"/>
                  </a:moveTo>
                  <a:lnTo>
                    <a:pt x="7350125" y="0"/>
                  </a:lnTo>
                  <a:lnTo>
                    <a:pt x="7350125" y="10367899"/>
                  </a:lnTo>
                  <a:lnTo>
                    <a:pt x="0" y="10367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49329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161689" y="2751239"/>
            <a:ext cx="3905993" cy="351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Chi-Square Test of Independence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156927" y="3279572"/>
            <a:ext cx="6136329" cy="4010616"/>
            <a:chOff x="0" y="0"/>
            <a:chExt cx="8181772" cy="53474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81722" cy="5347462"/>
            </a:xfrm>
            <a:custGeom>
              <a:avLst/>
              <a:gdLst/>
              <a:ahLst/>
              <a:cxnLst/>
              <a:rect l="l" t="t" r="r" b="b"/>
              <a:pathLst>
                <a:path w="8181722" h="5347462">
                  <a:moveTo>
                    <a:pt x="0" y="50292"/>
                  </a:moveTo>
                  <a:cubicBezTo>
                    <a:pt x="0" y="22479"/>
                    <a:pt x="22606" y="0"/>
                    <a:pt x="50292" y="0"/>
                  </a:cubicBezTo>
                  <a:lnTo>
                    <a:pt x="8131429" y="0"/>
                  </a:lnTo>
                  <a:lnTo>
                    <a:pt x="8131429" y="6350"/>
                  </a:lnTo>
                  <a:lnTo>
                    <a:pt x="8131429" y="0"/>
                  </a:lnTo>
                  <a:cubicBezTo>
                    <a:pt x="8159242" y="0"/>
                    <a:pt x="8181722" y="22479"/>
                    <a:pt x="8181722" y="50292"/>
                  </a:cubicBezTo>
                  <a:lnTo>
                    <a:pt x="8175372" y="50292"/>
                  </a:lnTo>
                  <a:lnTo>
                    <a:pt x="8181722" y="50292"/>
                  </a:lnTo>
                  <a:lnTo>
                    <a:pt x="8181722" y="5297170"/>
                  </a:lnTo>
                  <a:lnTo>
                    <a:pt x="8175372" y="5297170"/>
                  </a:lnTo>
                  <a:lnTo>
                    <a:pt x="8181722" y="5297170"/>
                  </a:lnTo>
                  <a:cubicBezTo>
                    <a:pt x="8181722" y="5324983"/>
                    <a:pt x="8159115" y="5347462"/>
                    <a:pt x="8131429" y="5347462"/>
                  </a:cubicBezTo>
                  <a:lnTo>
                    <a:pt x="8131429" y="5341112"/>
                  </a:lnTo>
                  <a:lnTo>
                    <a:pt x="8131429" y="5347462"/>
                  </a:lnTo>
                  <a:lnTo>
                    <a:pt x="50292" y="5347462"/>
                  </a:lnTo>
                  <a:lnTo>
                    <a:pt x="50292" y="5341112"/>
                  </a:lnTo>
                  <a:lnTo>
                    <a:pt x="50292" y="5347462"/>
                  </a:lnTo>
                  <a:cubicBezTo>
                    <a:pt x="22479" y="5347462"/>
                    <a:pt x="0" y="5324983"/>
                    <a:pt x="0" y="5297170"/>
                  </a:cubicBezTo>
                  <a:lnTo>
                    <a:pt x="0" y="50292"/>
                  </a:lnTo>
                  <a:lnTo>
                    <a:pt x="6350" y="50292"/>
                  </a:lnTo>
                  <a:lnTo>
                    <a:pt x="0" y="50292"/>
                  </a:lnTo>
                  <a:moveTo>
                    <a:pt x="12700" y="50292"/>
                  </a:moveTo>
                  <a:lnTo>
                    <a:pt x="12700" y="5297170"/>
                  </a:lnTo>
                  <a:lnTo>
                    <a:pt x="6350" y="5297170"/>
                  </a:lnTo>
                  <a:lnTo>
                    <a:pt x="12700" y="5297170"/>
                  </a:lnTo>
                  <a:cubicBezTo>
                    <a:pt x="12700" y="5317998"/>
                    <a:pt x="29591" y="5334762"/>
                    <a:pt x="50292" y="5334762"/>
                  </a:cubicBezTo>
                  <a:lnTo>
                    <a:pt x="8131429" y="5334762"/>
                  </a:lnTo>
                  <a:cubicBezTo>
                    <a:pt x="8152257" y="5334762"/>
                    <a:pt x="8169022" y="5317871"/>
                    <a:pt x="8169022" y="5297170"/>
                  </a:cubicBezTo>
                  <a:lnTo>
                    <a:pt x="8169022" y="50292"/>
                  </a:lnTo>
                  <a:cubicBezTo>
                    <a:pt x="8169022" y="29464"/>
                    <a:pt x="8152130" y="12700"/>
                    <a:pt x="8131429" y="12700"/>
                  </a:cubicBezTo>
                  <a:lnTo>
                    <a:pt x="50292" y="12700"/>
                  </a:lnTo>
                  <a:lnTo>
                    <a:pt x="50292" y="6350"/>
                  </a:lnTo>
                  <a:lnTo>
                    <a:pt x="50292" y="12700"/>
                  </a:lnTo>
                  <a:cubicBezTo>
                    <a:pt x="29591" y="12700"/>
                    <a:pt x="12700" y="29591"/>
                    <a:pt x="12700" y="50292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0391032" y="3362030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Test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49595" y="3362030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Result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91032" y="3888734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Test type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49595" y="3888734"/>
            <a:ext cx="2609698" cy="64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Chi-square test of independence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91032" y="4720085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Chi² statistic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49595" y="4720085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0.453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91032" y="5246789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p-value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49595" y="5246789"/>
            <a:ext cx="2609698" cy="29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0.7115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91032" y="5773493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Degrees of freedom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449595" y="5773493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91032" y="6300197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Significance level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49595" y="6300197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α = 0.05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91032" y="6826891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Decision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49595" y="6826891"/>
            <a:ext cx="2609698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Fail to Reject H₀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161689" y="7466857"/>
            <a:ext cx="6126804" cy="1994449"/>
            <a:chOff x="0" y="0"/>
            <a:chExt cx="8169072" cy="265926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69022" cy="2659253"/>
            </a:xfrm>
            <a:custGeom>
              <a:avLst/>
              <a:gdLst/>
              <a:ahLst/>
              <a:cxnLst/>
              <a:rect l="l" t="t" r="r" b="b"/>
              <a:pathLst>
                <a:path w="8169022" h="2659253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8125079" y="0"/>
                  </a:lnTo>
                  <a:cubicBezTo>
                    <a:pt x="8149336" y="0"/>
                    <a:pt x="8169022" y="19685"/>
                    <a:pt x="8169022" y="43942"/>
                  </a:cubicBezTo>
                  <a:lnTo>
                    <a:pt x="8169022" y="2615311"/>
                  </a:lnTo>
                  <a:cubicBezTo>
                    <a:pt x="8169022" y="2639568"/>
                    <a:pt x="8149336" y="2659253"/>
                    <a:pt x="8125079" y="2659253"/>
                  </a:cubicBezTo>
                  <a:lnTo>
                    <a:pt x="43942" y="2659253"/>
                  </a:lnTo>
                  <a:cubicBezTo>
                    <a:pt x="19685" y="2659253"/>
                    <a:pt x="0" y="2639568"/>
                    <a:pt x="0" y="2615311"/>
                  </a:cubicBezTo>
                  <a:close/>
                </a:path>
              </a:pathLst>
            </a:custGeom>
            <a:solidFill>
              <a:srgbClr val="4B3F02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0381355" y="7758703"/>
            <a:ext cx="274587" cy="219666"/>
            <a:chOff x="0" y="0"/>
            <a:chExt cx="366116" cy="292887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366141" cy="292862"/>
            </a:xfrm>
            <a:custGeom>
              <a:avLst/>
              <a:gdLst/>
              <a:ahLst/>
              <a:cxnLst/>
              <a:rect l="l" t="t" r="r" b="b"/>
              <a:pathLst>
                <a:path w="366141" h="292862">
                  <a:moveTo>
                    <a:pt x="0" y="0"/>
                  </a:moveTo>
                  <a:lnTo>
                    <a:pt x="366141" y="0"/>
                  </a:lnTo>
                  <a:lnTo>
                    <a:pt x="366141" y="292862"/>
                  </a:lnTo>
                  <a:lnTo>
                    <a:pt x="0" y="292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3" r="-430" b="-8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0875616" y="7645003"/>
            <a:ext cx="5193211" cy="156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1" dirty="0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What this means:</a:t>
            </a:r>
            <a:r>
              <a:rPr lang="en-US" sz="1687" dirty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Preferred grading system is </a:t>
            </a:r>
            <a:r>
              <a:rPr lang="en-US" sz="1687" b="1" dirty="0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not associated</a:t>
            </a:r>
            <a:r>
              <a:rPr lang="en-US" sz="1687" dirty="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with academic program. Business Analytics and Project Management students responded similarly. Program type does not predict grading preference.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312346" y="667198"/>
            <a:ext cx="3224365" cy="355397"/>
            <a:chOff x="0" y="0"/>
            <a:chExt cx="4299153" cy="4738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99077" cy="473837"/>
            </a:xfrm>
            <a:custGeom>
              <a:avLst/>
              <a:gdLst/>
              <a:ahLst/>
              <a:cxnLst/>
              <a:rect l="l" t="t" r="r" b="b"/>
              <a:pathLst>
                <a:path w="4299077" h="473837">
                  <a:moveTo>
                    <a:pt x="0" y="33655"/>
                  </a:moveTo>
                  <a:cubicBezTo>
                    <a:pt x="0" y="15113"/>
                    <a:pt x="15113" y="0"/>
                    <a:pt x="33655" y="0"/>
                  </a:cubicBezTo>
                  <a:lnTo>
                    <a:pt x="4265422" y="0"/>
                  </a:lnTo>
                  <a:cubicBezTo>
                    <a:pt x="4283964" y="0"/>
                    <a:pt x="4299077" y="15113"/>
                    <a:pt x="4299077" y="33655"/>
                  </a:cubicBezTo>
                  <a:lnTo>
                    <a:pt x="4299077" y="440182"/>
                  </a:lnTo>
                  <a:cubicBezTo>
                    <a:pt x="4299077" y="458724"/>
                    <a:pt x="4283964" y="473837"/>
                    <a:pt x="4265422" y="473837"/>
                  </a:cubicBezTo>
                  <a:lnTo>
                    <a:pt x="33655" y="473837"/>
                  </a:lnTo>
                  <a:cubicBezTo>
                    <a:pt x="15113" y="473837"/>
                    <a:pt x="0" y="458851"/>
                    <a:pt x="0" y="440182"/>
                  </a:cubicBezTo>
                  <a:close/>
                </a:path>
              </a:pathLst>
            </a:custGeom>
            <a:solidFill>
              <a:srgbClr val="44170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438552" y="711251"/>
            <a:ext cx="2971952" cy="24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 &amp; RECOMMENDATIONS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2346" y="1053103"/>
            <a:ext cx="13663165" cy="126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The Data Is Clear: Students Trust Humans More — But Want a Smarter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12346" y="2679059"/>
            <a:ext cx="2475157" cy="31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Key Findings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312346" y="3164234"/>
            <a:ext cx="473278" cy="473278"/>
            <a:chOff x="0" y="0"/>
            <a:chExt cx="631038" cy="6310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0936" cy="630937"/>
            </a:xfrm>
            <a:custGeom>
              <a:avLst/>
              <a:gdLst/>
              <a:ahLst/>
              <a:cxnLst/>
              <a:rect l="l" t="t" r="r" b="b"/>
              <a:pathLst>
                <a:path w="630936" h="630937">
                  <a:moveTo>
                    <a:pt x="0" y="42037"/>
                  </a:moveTo>
                  <a:cubicBezTo>
                    <a:pt x="0" y="18796"/>
                    <a:pt x="18796" y="0"/>
                    <a:pt x="42037" y="0"/>
                  </a:cubicBezTo>
                  <a:lnTo>
                    <a:pt x="588899" y="0"/>
                  </a:lnTo>
                  <a:cubicBezTo>
                    <a:pt x="612140" y="0"/>
                    <a:pt x="630936" y="18796"/>
                    <a:pt x="630936" y="42037"/>
                  </a:cubicBezTo>
                  <a:lnTo>
                    <a:pt x="630936" y="588899"/>
                  </a:lnTo>
                  <a:cubicBezTo>
                    <a:pt x="630936" y="612140"/>
                    <a:pt x="612140" y="630936"/>
                    <a:pt x="588899" y="630936"/>
                  </a:cubicBezTo>
                  <a:lnTo>
                    <a:pt x="42037" y="630936"/>
                  </a:lnTo>
                  <a:cubicBezTo>
                    <a:pt x="18796" y="631063"/>
                    <a:pt x="0" y="612140"/>
                    <a:pt x="0" y="588899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2400519" y="3253378"/>
            <a:ext cx="296913" cy="33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33405" y="3226889"/>
            <a:ext cx="4435373" cy="31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Human grading rated significantly fairer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33405" y="3655371"/>
            <a:ext cx="5953868" cy="27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Mean 6.90 vs 6.06; p = 0.0105 → H₀ rejected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312346" y="4275830"/>
            <a:ext cx="473278" cy="473278"/>
            <a:chOff x="0" y="0"/>
            <a:chExt cx="631038" cy="6310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0936" cy="630937"/>
            </a:xfrm>
            <a:custGeom>
              <a:avLst/>
              <a:gdLst/>
              <a:ahLst/>
              <a:cxnLst/>
              <a:rect l="l" t="t" r="r" b="b"/>
              <a:pathLst>
                <a:path w="630936" h="630937">
                  <a:moveTo>
                    <a:pt x="0" y="42037"/>
                  </a:moveTo>
                  <a:cubicBezTo>
                    <a:pt x="0" y="18796"/>
                    <a:pt x="18796" y="0"/>
                    <a:pt x="42037" y="0"/>
                  </a:cubicBezTo>
                  <a:lnTo>
                    <a:pt x="588899" y="0"/>
                  </a:lnTo>
                  <a:cubicBezTo>
                    <a:pt x="612140" y="0"/>
                    <a:pt x="630936" y="18796"/>
                    <a:pt x="630936" y="42037"/>
                  </a:cubicBezTo>
                  <a:lnTo>
                    <a:pt x="630936" y="588899"/>
                  </a:lnTo>
                  <a:cubicBezTo>
                    <a:pt x="630936" y="612140"/>
                    <a:pt x="612140" y="630936"/>
                    <a:pt x="588899" y="630936"/>
                  </a:cubicBezTo>
                  <a:lnTo>
                    <a:pt x="42037" y="630936"/>
                  </a:lnTo>
                  <a:cubicBezTo>
                    <a:pt x="18796" y="631063"/>
                    <a:pt x="0" y="612140"/>
                    <a:pt x="0" y="588899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2400519" y="4364984"/>
            <a:ext cx="296913" cy="33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33405" y="4338485"/>
            <a:ext cx="3894087" cy="31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Program does not drive preference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33405" y="4766967"/>
            <a:ext cx="5953868" cy="57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No statistical association between major and preferred system; H₀ not rejected (p = 0.7115)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312346" y="5674071"/>
            <a:ext cx="473278" cy="473278"/>
            <a:chOff x="0" y="0"/>
            <a:chExt cx="631038" cy="6310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0936" cy="630937"/>
            </a:xfrm>
            <a:custGeom>
              <a:avLst/>
              <a:gdLst/>
              <a:ahLst/>
              <a:cxnLst/>
              <a:rect l="l" t="t" r="r" b="b"/>
              <a:pathLst>
                <a:path w="630936" h="630937">
                  <a:moveTo>
                    <a:pt x="0" y="42037"/>
                  </a:moveTo>
                  <a:cubicBezTo>
                    <a:pt x="0" y="18796"/>
                    <a:pt x="18796" y="0"/>
                    <a:pt x="42037" y="0"/>
                  </a:cubicBezTo>
                  <a:lnTo>
                    <a:pt x="588899" y="0"/>
                  </a:lnTo>
                  <a:cubicBezTo>
                    <a:pt x="612140" y="0"/>
                    <a:pt x="630936" y="18796"/>
                    <a:pt x="630936" y="42037"/>
                  </a:cubicBezTo>
                  <a:lnTo>
                    <a:pt x="630936" y="588899"/>
                  </a:lnTo>
                  <a:cubicBezTo>
                    <a:pt x="630936" y="612140"/>
                    <a:pt x="612140" y="630936"/>
                    <a:pt x="588899" y="630936"/>
                  </a:cubicBezTo>
                  <a:lnTo>
                    <a:pt x="42037" y="630936"/>
                  </a:lnTo>
                  <a:cubicBezTo>
                    <a:pt x="18796" y="631063"/>
                    <a:pt x="0" y="612140"/>
                    <a:pt x="0" y="588899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2400519" y="5763216"/>
            <a:ext cx="296913" cy="33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33405" y="5736727"/>
            <a:ext cx="2662085" cy="31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Hybrid is the top choice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33405" y="6165209"/>
            <a:ext cx="5953868" cy="32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45% prefer AI scoring with human review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312346" y="6785667"/>
            <a:ext cx="473278" cy="473278"/>
            <a:chOff x="0" y="0"/>
            <a:chExt cx="631038" cy="6310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0936" cy="630937"/>
            </a:xfrm>
            <a:custGeom>
              <a:avLst/>
              <a:gdLst/>
              <a:ahLst/>
              <a:cxnLst/>
              <a:rect l="l" t="t" r="r" b="b"/>
              <a:pathLst>
                <a:path w="630936" h="630937">
                  <a:moveTo>
                    <a:pt x="0" y="42037"/>
                  </a:moveTo>
                  <a:cubicBezTo>
                    <a:pt x="0" y="18796"/>
                    <a:pt x="18796" y="0"/>
                    <a:pt x="42037" y="0"/>
                  </a:cubicBezTo>
                  <a:lnTo>
                    <a:pt x="588899" y="0"/>
                  </a:lnTo>
                  <a:cubicBezTo>
                    <a:pt x="612140" y="0"/>
                    <a:pt x="630936" y="18796"/>
                    <a:pt x="630936" y="42037"/>
                  </a:cubicBezTo>
                  <a:lnTo>
                    <a:pt x="630936" y="588899"/>
                  </a:lnTo>
                  <a:cubicBezTo>
                    <a:pt x="630936" y="612140"/>
                    <a:pt x="612140" y="630936"/>
                    <a:pt x="588899" y="630936"/>
                  </a:cubicBezTo>
                  <a:lnTo>
                    <a:pt x="42037" y="630936"/>
                  </a:lnTo>
                  <a:cubicBezTo>
                    <a:pt x="18796" y="631063"/>
                    <a:pt x="0" y="612140"/>
                    <a:pt x="0" y="588899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2400519" y="6874821"/>
            <a:ext cx="296913" cy="33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33405" y="6848323"/>
            <a:ext cx="3717284" cy="31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AI trusted for objective tasks only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33405" y="7276805"/>
            <a:ext cx="5953868" cy="32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Quizzes and coding: yes. Essays and presentations: no.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312346" y="7897263"/>
            <a:ext cx="473278" cy="473278"/>
            <a:chOff x="0" y="0"/>
            <a:chExt cx="631038" cy="6310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30936" cy="630937"/>
            </a:xfrm>
            <a:custGeom>
              <a:avLst/>
              <a:gdLst/>
              <a:ahLst/>
              <a:cxnLst/>
              <a:rect l="l" t="t" r="r" b="b"/>
              <a:pathLst>
                <a:path w="630936" h="630937">
                  <a:moveTo>
                    <a:pt x="0" y="42037"/>
                  </a:moveTo>
                  <a:cubicBezTo>
                    <a:pt x="0" y="18796"/>
                    <a:pt x="18796" y="0"/>
                    <a:pt x="42037" y="0"/>
                  </a:cubicBezTo>
                  <a:lnTo>
                    <a:pt x="588899" y="0"/>
                  </a:lnTo>
                  <a:cubicBezTo>
                    <a:pt x="612140" y="0"/>
                    <a:pt x="630936" y="18796"/>
                    <a:pt x="630936" y="42037"/>
                  </a:cubicBezTo>
                  <a:lnTo>
                    <a:pt x="630936" y="588899"/>
                  </a:lnTo>
                  <a:cubicBezTo>
                    <a:pt x="630936" y="612140"/>
                    <a:pt x="612140" y="630936"/>
                    <a:pt x="588899" y="630936"/>
                  </a:cubicBezTo>
                  <a:lnTo>
                    <a:pt x="42037" y="630936"/>
                  </a:lnTo>
                  <a:cubicBezTo>
                    <a:pt x="18796" y="631063"/>
                    <a:pt x="0" y="612140"/>
                    <a:pt x="0" y="588899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2400519" y="7986417"/>
            <a:ext cx="296913" cy="33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33405" y="7959928"/>
            <a:ext cx="3710883" cy="31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Algorithmic bias is a real concern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33405" y="8388401"/>
            <a:ext cx="5953868" cy="27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Average concern score: 6.20/10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258452" y="2540794"/>
            <a:ext cx="6877945" cy="6338735"/>
            <a:chOff x="0" y="0"/>
            <a:chExt cx="9170594" cy="845164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170543" cy="8451596"/>
            </a:xfrm>
            <a:custGeom>
              <a:avLst/>
              <a:gdLst/>
              <a:ahLst/>
              <a:cxnLst/>
              <a:rect l="l" t="t" r="r" b="b"/>
              <a:pathLst>
                <a:path w="9170543" h="8451596">
                  <a:moveTo>
                    <a:pt x="0" y="42037"/>
                  </a:moveTo>
                  <a:cubicBezTo>
                    <a:pt x="0" y="18796"/>
                    <a:pt x="18796" y="0"/>
                    <a:pt x="42037" y="0"/>
                  </a:cubicBezTo>
                  <a:lnTo>
                    <a:pt x="9128506" y="0"/>
                  </a:lnTo>
                  <a:cubicBezTo>
                    <a:pt x="9151748" y="0"/>
                    <a:pt x="9170543" y="18796"/>
                    <a:pt x="9170543" y="42037"/>
                  </a:cubicBezTo>
                  <a:lnTo>
                    <a:pt x="9170543" y="8409559"/>
                  </a:lnTo>
                  <a:cubicBezTo>
                    <a:pt x="9170543" y="8432800"/>
                    <a:pt x="9151748" y="8451596"/>
                    <a:pt x="9128506" y="8451596"/>
                  </a:cubicBezTo>
                  <a:lnTo>
                    <a:pt x="42037" y="8451596"/>
                  </a:lnTo>
                  <a:cubicBezTo>
                    <a:pt x="18796" y="8451596"/>
                    <a:pt x="0" y="8432800"/>
                    <a:pt x="0" y="8409559"/>
                  </a:cubicBezTo>
                  <a:close/>
                </a:path>
              </a:pathLst>
            </a:custGeom>
            <a:solidFill>
              <a:srgbClr val="1D4241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9468745" y="2679059"/>
            <a:ext cx="3282706" cy="31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Recommendations for Kepler</a:t>
            </a:r>
          </a:p>
        </p:txBody>
      </p:sp>
      <p:sp>
        <p:nvSpPr>
          <p:cNvPr id="39" name="Freeform 39" descr="preencoded.png"/>
          <p:cNvSpPr/>
          <p:nvPr/>
        </p:nvSpPr>
        <p:spPr>
          <a:xfrm>
            <a:off x="9547622" y="3174654"/>
            <a:ext cx="315516" cy="315516"/>
          </a:xfrm>
          <a:custGeom>
            <a:avLst/>
            <a:gdLst/>
            <a:ahLst/>
            <a:cxnLst/>
            <a:rect l="l" t="t" r="r" b="b"/>
            <a:pathLst>
              <a:path w="315516" h="315516">
                <a:moveTo>
                  <a:pt x="0" y="0"/>
                </a:moveTo>
                <a:lnTo>
                  <a:pt x="315516" y="0"/>
                </a:lnTo>
                <a:lnTo>
                  <a:pt x="315516" y="315516"/>
                </a:lnTo>
                <a:lnTo>
                  <a:pt x="0" y="3155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353" r="-7350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0152307" y="3126134"/>
            <a:ext cx="5773788" cy="89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Adopt a Hybrid Model</a:t>
            </a: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Use AI for structured tasks (MCQs, coding); require human review for all high-stakes or subjective assessments.</a:t>
            </a:r>
          </a:p>
        </p:txBody>
      </p:sp>
      <p:sp>
        <p:nvSpPr>
          <p:cNvPr id="41" name="Freeform 41" descr="preencoded.png"/>
          <p:cNvSpPr/>
          <p:nvPr/>
        </p:nvSpPr>
        <p:spPr>
          <a:xfrm>
            <a:off x="9547622" y="4330303"/>
            <a:ext cx="315516" cy="315516"/>
          </a:xfrm>
          <a:custGeom>
            <a:avLst/>
            <a:gdLst/>
            <a:ahLst/>
            <a:cxnLst/>
            <a:rect l="l" t="t" r="r" b="b"/>
            <a:pathLst>
              <a:path w="315516" h="315516">
                <a:moveTo>
                  <a:pt x="0" y="0"/>
                </a:moveTo>
                <a:lnTo>
                  <a:pt x="315516" y="0"/>
                </a:lnTo>
                <a:lnTo>
                  <a:pt x="315516" y="315516"/>
                </a:lnTo>
                <a:lnTo>
                  <a:pt x="0" y="3155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353" r="-7350"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0152307" y="4281783"/>
            <a:ext cx="5773788" cy="61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Be Transparent</a:t>
            </a: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Communicate clearly to students how AI grading works, what it grades, and what checks are in place.</a:t>
            </a:r>
          </a:p>
        </p:txBody>
      </p:sp>
      <p:sp>
        <p:nvSpPr>
          <p:cNvPr id="43" name="Freeform 43" descr="preencoded.png"/>
          <p:cNvSpPr/>
          <p:nvPr/>
        </p:nvSpPr>
        <p:spPr>
          <a:xfrm>
            <a:off x="9547622" y="5267477"/>
            <a:ext cx="315516" cy="315516"/>
          </a:xfrm>
          <a:custGeom>
            <a:avLst/>
            <a:gdLst/>
            <a:ahLst/>
            <a:cxnLst/>
            <a:rect l="l" t="t" r="r" b="b"/>
            <a:pathLst>
              <a:path w="315516" h="315516">
                <a:moveTo>
                  <a:pt x="0" y="0"/>
                </a:moveTo>
                <a:lnTo>
                  <a:pt x="315516" y="0"/>
                </a:lnTo>
                <a:lnTo>
                  <a:pt x="315516" y="315516"/>
                </a:lnTo>
                <a:lnTo>
                  <a:pt x="0" y="3155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353" r="-7350"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0152307" y="5218957"/>
            <a:ext cx="5773788" cy="89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1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Address Bias Concerns</a:t>
            </a:r>
            <a:r>
              <a:rPr lang="en-US" sz="1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Proactively explain how algorithmic bias is managed; involve students in testing and feedback.</a:t>
            </a:r>
          </a:p>
        </p:txBody>
      </p:sp>
      <p:sp>
        <p:nvSpPr>
          <p:cNvPr id="45" name="Freeform 45" descr="preencoded.png"/>
          <p:cNvSpPr/>
          <p:nvPr/>
        </p:nvSpPr>
        <p:spPr>
          <a:xfrm>
            <a:off x="9547622" y="6423127"/>
            <a:ext cx="315516" cy="315516"/>
          </a:xfrm>
          <a:custGeom>
            <a:avLst/>
            <a:gdLst/>
            <a:ahLst/>
            <a:cxnLst/>
            <a:rect l="l" t="t" r="r" b="b"/>
            <a:pathLst>
              <a:path w="315516" h="315516">
                <a:moveTo>
                  <a:pt x="0" y="0"/>
                </a:moveTo>
                <a:lnTo>
                  <a:pt x="315516" y="0"/>
                </a:lnTo>
                <a:lnTo>
                  <a:pt x="315516" y="315515"/>
                </a:lnTo>
                <a:lnTo>
                  <a:pt x="0" y="315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353" r="-7350"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0152307" y="6374606"/>
            <a:ext cx="5773788" cy="89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1" dirty="0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Continue Research</a:t>
            </a:r>
            <a:r>
              <a:rPr lang="en-US" sz="1625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— This study covers Year 2 cohort 2025 only. Extend to Year 1 and Year 3 to capture a full picture before wider deployment.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2312346" y="9098461"/>
            <a:ext cx="13663165" cy="15773"/>
            <a:chOff x="0" y="0"/>
            <a:chExt cx="18217553" cy="2103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8217514" cy="21082"/>
            </a:xfrm>
            <a:custGeom>
              <a:avLst/>
              <a:gdLst/>
              <a:ahLst/>
              <a:cxnLst/>
              <a:rect l="l" t="t" r="r" b="b"/>
              <a:pathLst>
                <a:path w="18217514" h="21082">
                  <a:moveTo>
                    <a:pt x="0" y="0"/>
                  </a:moveTo>
                  <a:lnTo>
                    <a:pt x="18217514" y="0"/>
                  </a:lnTo>
                  <a:lnTo>
                    <a:pt x="18217514" y="21082"/>
                  </a:lnTo>
                  <a:lnTo>
                    <a:pt x="0" y="21082"/>
                  </a:lnTo>
                  <a:close/>
                </a:path>
              </a:pathLst>
            </a:custGeom>
            <a:solidFill>
              <a:srgbClr val="F9EEE7">
                <a:alpha val="24706"/>
              </a:srgbClr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2312346" y="9295057"/>
            <a:ext cx="13663165" cy="32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625" i="1" dirty="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This study was conducted with ethical approval from Kepler Research Office. Data is anonymous and used solely for academic purposes.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 r="-49329"/>
          </a:stretch>
        </a:blipFill>
      </a:spPr>
      <a:bodyPr/>
      <a:lstStyle>
        <a:defPPr algn="l"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1279</Words>
  <Application>Microsoft Office PowerPoint</Application>
  <PresentationFormat>Custom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Quattrocento</vt:lpstr>
      <vt:lpstr>Arimo</vt:lpstr>
      <vt:lpstr>Calibri</vt:lpstr>
      <vt:lpstr>Quattrocento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AI-vs-Human-Grading-What-Students-Actually-Think.pptx</dc:title>
  <cp:lastModifiedBy>Mucyo Merite</cp:lastModifiedBy>
  <cp:revision>12</cp:revision>
  <dcterms:created xsi:type="dcterms:W3CDTF">2006-08-16T00:00:00Z</dcterms:created>
  <dcterms:modified xsi:type="dcterms:W3CDTF">2026-04-28T14:51:06Z</dcterms:modified>
  <dc:identifier>DAHIFdovvfY</dc:identifier>
</cp:coreProperties>
</file>